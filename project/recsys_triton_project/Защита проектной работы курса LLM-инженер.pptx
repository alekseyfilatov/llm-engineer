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0" r:id="rId5"/>
    <p:sldMasterId id="2147483701" r:id="rId6"/>
    <p:sldMasterId id="2147483702" r:id="rId7"/>
    <p:sldMasterId id="2147483703" r:id="rId8"/>
  </p:sldMasterIdLst>
  <p:notesMasterIdLst>
    <p:notesMasterId r:id="rId9"/>
  </p:notes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</p:sldIdLst>
  <p:sldSz cy="5143500" cx="9144000"/>
  <p:notesSz cx="6858000" cy="9144000"/>
  <p:embeddedFontLst>
    <p:embeddedFont>
      <p:font typeface="Roboto"/>
      <p:regular r:id="rId26"/>
      <p:bold r:id="rId27"/>
      <p:italic r:id="rId28"/>
      <p:boldItalic r:id="rId29"/>
    </p:embeddedFont>
    <p:embeddedFont>
      <p:font typeface="Roboto Medium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5533">
          <p15:clr>
            <a:srgbClr val="A4A3A4"/>
          </p15:clr>
        </p15:guide>
        <p15:guide id="2" pos="397">
          <p15:clr>
            <a:srgbClr val="9AA0A6"/>
          </p15:clr>
        </p15:guide>
        <p15:guide id="3" orient="horz" pos="3240">
          <p15:clr>
            <a:srgbClr val="9AA0A6"/>
          </p15:clr>
        </p15:guide>
        <p15:guide id="4" orient="horz">
          <p15:clr>
            <a:srgbClr val="747775"/>
          </p15:clr>
        </p15:guide>
        <p15:guide id="5" orient="horz" pos="510">
          <p15:clr>
            <a:srgbClr val="747775"/>
          </p15:clr>
        </p15:guide>
        <p15:guide id="6" pos="102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B489C6E-23CD-4EE1-AA48-215A20A13C27}">
  <a:tblStyle styleId="{0B489C6E-23CD-4EE1-AA48-215A20A13C2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533"/>
        <p:guide pos="397"/>
        <p:guide pos="3240" orient="horz"/>
        <p:guide orient="horz"/>
        <p:guide pos="510" orient="horz"/>
        <p:guide pos="102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1.xml"/><Relationship Id="rId22" Type="http://schemas.openxmlformats.org/officeDocument/2006/relationships/slide" Target="slides/slide13.xml"/><Relationship Id="rId21" Type="http://schemas.openxmlformats.org/officeDocument/2006/relationships/slide" Target="slides/slide12.xml"/><Relationship Id="rId24" Type="http://schemas.openxmlformats.org/officeDocument/2006/relationships/slide" Target="slides/slide15.xml"/><Relationship Id="rId23" Type="http://schemas.openxmlformats.org/officeDocument/2006/relationships/slide" Target="slides/slide14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notesMaster" Target="notesMasters/notesMaster1.xml"/><Relationship Id="rId26" Type="http://schemas.openxmlformats.org/officeDocument/2006/relationships/font" Target="fonts/Roboto-regular.fntdata"/><Relationship Id="rId25" Type="http://schemas.openxmlformats.org/officeDocument/2006/relationships/slide" Target="slides/slide16.xml"/><Relationship Id="rId28" Type="http://schemas.openxmlformats.org/officeDocument/2006/relationships/font" Target="fonts/Roboto-italic.fntdata"/><Relationship Id="rId27" Type="http://schemas.openxmlformats.org/officeDocument/2006/relationships/font" Target="fonts/Roboto-bold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Roboto-boldItalic.fntdata"/><Relationship Id="rId7" Type="http://schemas.openxmlformats.org/officeDocument/2006/relationships/slideMaster" Target="slideMasters/slideMaster3.xml"/><Relationship Id="rId8" Type="http://schemas.openxmlformats.org/officeDocument/2006/relationships/slideMaster" Target="slideMasters/slideMaster4.xml"/><Relationship Id="rId31" Type="http://schemas.openxmlformats.org/officeDocument/2006/relationships/font" Target="fonts/RobotoMedium-bold.fntdata"/><Relationship Id="rId30" Type="http://schemas.openxmlformats.org/officeDocument/2006/relationships/font" Target="fonts/RobotoMedium-regular.fntdata"/><Relationship Id="rId11" Type="http://schemas.openxmlformats.org/officeDocument/2006/relationships/slide" Target="slides/slide2.xml"/><Relationship Id="rId33" Type="http://schemas.openxmlformats.org/officeDocument/2006/relationships/font" Target="fonts/RobotoMedium-boldItalic.fntdata"/><Relationship Id="rId10" Type="http://schemas.openxmlformats.org/officeDocument/2006/relationships/slide" Target="slides/slide1.xml"/><Relationship Id="rId32" Type="http://schemas.openxmlformats.org/officeDocument/2006/relationships/font" Target="fonts/RobotoMedium-italic.fntdata"/><Relationship Id="rId13" Type="http://schemas.openxmlformats.org/officeDocument/2006/relationships/slide" Target="slides/slide4.xml"/><Relationship Id="rId12" Type="http://schemas.openxmlformats.org/officeDocument/2006/relationships/slide" Target="slides/slide3.xml"/><Relationship Id="rId15" Type="http://schemas.openxmlformats.org/officeDocument/2006/relationships/slide" Target="slides/slide6.xml"/><Relationship Id="rId14" Type="http://schemas.openxmlformats.org/officeDocument/2006/relationships/slide" Target="slides/slide5.xml"/><Relationship Id="rId17" Type="http://schemas.openxmlformats.org/officeDocument/2006/relationships/slide" Target="slides/slide8.xml"/><Relationship Id="rId16" Type="http://schemas.openxmlformats.org/officeDocument/2006/relationships/slide" Target="slides/slide7.xml"/><Relationship Id="rId19" Type="http://schemas.openxmlformats.org/officeDocument/2006/relationships/slide" Target="slides/slide10.xml"/><Relationship Id="rId18" Type="http://schemas.openxmlformats.org/officeDocument/2006/relationships/slide" Target="slides/slide9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0f7d84ce1d_0_125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0f7d84ce1d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0f7d84ce1d_0_0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30f7d84ce1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de823becd0_0_40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de823becd0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0f7d84ce1d_0_256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0f7d84ce1d_0_2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f98075b259_0_20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f98075b259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f98075b259_0_38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f98075b259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df29b9fb24_0_69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df29b9fb24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h77971aafa5d87983_1_45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h77971aafa5d87983_1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h77971aafa5d87983_1_31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h77971aafa5d87983_1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h77971aafa5d87983_1_36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h77971aafa5d87983_1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h77971aafa5d87983_1_56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h77971aafa5d87983_1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f98075b259_0_51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f98075b259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h77971aafa5d87983_1_68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h77971aafa5d87983_1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104438fcaf_0_1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104438fcaf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0f7d84ce1d_0_388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30f7d84ce1d_0_3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0f7d84ce1d_0_1513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30f7d84ce1d_0_15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5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5" Type="http://schemas.openxmlformats.org/officeDocument/2006/relationships/image" Target="../media/image19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7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6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5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2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6.png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5" Type="http://schemas.openxmlformats.org/officeDocument/2006/relationships/image" Target="../media/image19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7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100" r="100" t="0"/>
          <a:stretch/>
        </p:blipFill>
        <p:spPr>
          <a:xfrm>
            <a:off x="-17925" y="-10075"/>
            <a:ext cx="9194726" cy="518215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2" name="Google Shape;12;p2"/>
          <p:cNvSpPr txBox="1"/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Белый слайд + заголовок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500550" y="1784775"/>
            <a:ext cx="7935300" cy="114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аш макет 1">
  <p:cSld name="CUSTOM_5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" type="body"/>
          </p:nvPr>
        </p:nvSpPr>
        <p:spPr>
          <a:xfrm>
            <a:off x="500550" y="1426469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500"/>
              <a:buChar char="●"/>
              <a:defRPr sz="1500"/>
            </a:lvl1pPr>
            <a:lvl2pPr indent="-311150" lvl="1" marL="91440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2pPr>
            <a:lvl3pPr indent="-311150" lvl="2" marL="137160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3pPr>
            <a:lvl4pPr indent="-311150" lvl="3" marL="182880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4pPr>
            <a:lvl5pPr indent="-311150" lvl="4" marL="228600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indent="-311150" lvl="5" marL="274320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6pPr>
            <a:lvl7pPr indent="-311150" lvl="6" marL="320040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7pPr>
            <a:lvl8pPr indent="-311150" lvl="7" marL="365760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8pPr>
            <a:lvl9pPr indent="-311150" lvl="8" marL="411480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/>
        </p:txBody>
      </p:sp>
      <p:sp>
        <p:nvSpPr>
          <p:cNvPr id="21" name="Google Shape;2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ема вебинара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4" name="Google Shape;24;p6"/>
          <p:cNvSpPr txBox="1"/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6"/>
          <p:cNvSpPr txBox="1"/>
          <p:nvPr>
            <p:ph idx="1" type="subTitle"/>
          </p:nvPr>
        </p:nvSpPr>
        <p:spPr>
          <a:xfrm>
            <a:off x="500550" y="457313"/>
            <a:ext cx="77967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500"/>
              <a:buNone/>
              <a:defRPr sz="1500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/>
        </p:txBody>
      </p:sp>
      <p:sp>
        <p:nvSpPr>
          <p:cNvPr id="26" name="Google Shape;26;p6"/>
          <p:cNvSpPr txBox="1"/>
          <p:nvPr>
            <p:ph idx="2" type="subTitle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500"/>
              <a:buNone/>
              <a:defRPr b="1" sz="1500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b="1" sz="2300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b="1" sz="2300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b="1" sz="2300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b="1" sz="2300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b="1" sz="2300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b="1" sz="2300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b="1" sz="2300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b="1" sz="2300">
                <a:solidFill>
                  <a:srgbClr val="013D85"/>
                </a:solidFill>
              </a:defRPr>
            </a:lvl9pPr>
          </a:lstStyle>
          <a:p/>
        </p:txBody>
      </p:sp>
      <p:sp>
        <p:nvSpPr>
          <p:cNvPr id="27" name="Google Shape;27;p6"/>
          <p:cNvSpPr txBox="1"/>
          <p:nvPr>
            <p:ph idx="3" type="subTitle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0" sz="13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" name="Google Shape;28;p6"/>
          <p:cNvSpPr txBox="1"/>
          <p:nvPr>
            <p:ph idx="4" type="subTitle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0" sz="13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397">
          <p15:clr>
            <a:srgbClr val="FA7B17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азделительный слайд">
  <p:cSld name="MAIN_POIN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31" name="Google Shape;31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7"/>
          <p:cNvSpPr txBox="1"/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 себе">
  <p:cSld name="CUSTOM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5" name="Google Shape;35;p8"/>
          <p:cNvSpPr txBox="1"/>
          <p:nvPr>
            <p:ph idx="1" type="subTitle"/>
          </p:nvPr>
        </p:nvSpPr>
        <p:spPr>
          <a:xfrm>
            <a:off x="3891775" y="1716281"/>
            <a:ext cx="4391700" cy="58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600"/>
              <a:buNone/>
              <a:defRPr b="1" sz="1600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6" name="Google Shape;36;p8"/>
          <p:cNvSpPr txBox="1"/>
          <p:nvPr>
            <p:ph idx="2" type="subTitle"/>
          </p:nvPr>
        </p:nvSpPr>
        <p:spPr>
          <a:xfrm>
            <a:off x="3891775" y="2252801"/>
            <a:ext cx="5095200" cy="25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0" sz="13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аздел+описание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9"/>
          <p:cNvSpPr txBox="1"/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11150" lvl="4" marL="228600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indent="-311150" lvl="5" marL="27432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indent="-311150" lvl="6" marL="32004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indent="-311150" lvl="7" marL="365760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indent="-311150" lvl="8" marL="41148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">
  <p:cSld name="CUSTOM_3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с кодом 1">
  <p:cSld name="CUSTOM_2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9" name="Google Shape;49;p12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2"/>
          <p:cNvSpPr txBox="1"/>
          <p:nvPr>
            <p:ph idx="1" type="subTitle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None/>
              <a:defRPr sz="11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с кодом 2">
  <p:cSld name="CUSTOM_2_1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" name="Google Shape;53;p13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3"/>
          <p:cNvSpPr txBox="1"/>
          <p:nvPr>
            <p:ph idx="1" type="subTitle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ourier New"/>
              <a:buNone/>
              <a:defRPr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КОД+ТЕКСТ 1">
  <p:cSld name="CUSTOM_4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" name="Google Shape;57;p14"/>
          <p:cNvSpPr txBox="1"/>
          <p:nvPr>
            <p:ph idx="1" type="subTitle"/>
          </p:nvPr>
        </p:nvSpPr>
        <p:spPr>
          <a:xfrm>
            <a:off x="544050" y="1350425"/>
            <a:ext cx="5316300" cy="9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0" sz="13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8" name="Google Shape;58;p14"/>
          <p:cNvSpPr/>
          <p:nvPr/>
        </p:nvSpPr>
        <p:spPr>
          <a:xfrm>
            <a:off x="606200" y="2144231"/>
            <a:ext cx="7938600" cy="2464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4"/>
          <p:cNvSpPr txBox="1"/>
          <p:nvPr>
            <p:ph idx="2" type="subTitle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КОД+ТЕКСТ 2">
  <p:cSld name="CUSTOM_4_1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2" name="Google Shape;62;p15"/>
          <p:cNvSpPr/>
          <p:nvPr/>
        </p:nvSpPr>
        <p:spPr>
          <a:xfrm>
            <a:off x="362300" y="1384249"/>
            <a:ext cx="4748700" cy="33933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5"/>
          <p:cNvSpPr txBox="1"/>
          <p:nvPr>
            <p:ph idx="1" type="subTitle"/>
          </p:nvPr>
        </p:nvSpPr>
        <p:spPr>
          <a:xfrm>
            <a:off x="500550" y="1474819"/>
            <a:ext cx="4428600" cy="345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2" type="subTitle"/>
          </p:nvPr>
        </p:nvSpPr>
        <p:spPr>
          <a:xfrm>
            <a:off x="5555275" y="1474819"/>
            <a:ext cx="3151200" cy="326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0" sz="13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блок текст + картинка" type="title">
  <p:cSld name="TITLE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7"/>
          <p:cNvSpPr txBox="1"/>
          <p:nvPr>
            <p:ph type="title"/>
          </p:nvPr>
        </p:nvSpPr>
        <p:spPr>
          <a:xfrm>
            <a:off x="495300" y="1493850"/>
            <a:ext cx="4424100" cy="215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pic>
        <p:nvPicPr>
          <p:cNvPr id="71" name="Google Shape;7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283625" y="843000"/>
            <a:ext cx="3457500" cy="345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1247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Цитата, фон градиент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/>
          <p:nvPr>
            <p:ph type="title"/>
          </p:nvPr>
        </p:nvSpPr>
        <p:spPr>
          <a:xfrm>
            <a:off x="604350" y="1999200"/>
            <a:ext cx="7935300" cy="114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74" name="Google Shape;74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этапы процесса">
  <p:cSld name="CUSTOM_5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77" name="Google Shape;7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22851" y="1821363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pic>
        <p:nvPicPr>
          <p:cNvPr id="78" name="Google Shape;7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68289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pic>
        <p:nvPicPr>
          <p:cNvPr id="79" name="Google Shape;7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7615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pic>
        <p:nvPicPr>
          <p:cNvPr id="80" name="Google Shape;80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47001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sp>
        <p:nvSpPr>
          <p:cNvPr id="81" name="Google Shape;81;p19"/>
          <p:cNvSpPr txBox="1"/>
          <p:nvPr/>
        </p:nvSpPr>
        <p:spPr>
          <a:xfrm>
            <a:off x="1213006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1</a:t>
            </a:r>
            <a:endParaRPr b="1" sz="1500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" name="Google Shape;82;p19"/>
          <p:cNvSpPr txBox="1"/>
          <p:nvPr/>
        </p:nvSpPr>
        <p:spPr>
          <a:xfrm>
            <a:off x="3058443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2</a:t>
            </a:r>
            <a:endParaRPr b="1" sz="1500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" name="Google Shape;83;p19"/>
          <p:cNvSpPr txBox="1"/>
          <p:nvPr/>
        </p:nvSpPr>
        <p:spPr>
          <a:xfrm>
            <a:off x="4817770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3</a:t>
            </a:r>
            <a:endParaRPr b="1" sz="1500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" name="Google Shape;84;p19"/>
          <p:cNvSpPr txBox="1"/>
          <p:nvPr/>
        </p:nvSpPr>
        <p:spPr>
          <a:xfrm>
            <a:off x="6637156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4</a:t>
            </a:r>
            <a:endParaRPr b="1" sz="1500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" name="Google Shape;85;p19"/>
          <p:cNvSpPr txBox="1"/>
          <p:nvPr/>
        </p:nvSpPr>
        <p:spPr>
          <a:xfrm>
            <a:off x="982906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i="0" lang="ru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i="0" lang="ru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i="0" sz="9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i="0" lang="ru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" name="Google Shape;86;p19"/>
          <p:cNvSpPr txBox="1"/>
          <p:nvPr/>
        </p:nvSpPr>
        <p:spPr>
          <a:xfrm>
            <a:off x="2828343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i="0" lang="ru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i="0" lang="ru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i="0" sz="9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i="0" lang="ru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" name="Google Shape;87;p19"/>
          <p:cNvSpPr txBox="1"/>
          <p:nvPr/>
        </p:nvSpPr>
        <p:spPr>
          <a:xfrm>
            <a:off x="4587670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i="0" lang="ru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i="0" lang="ru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i="0" sz="9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i="0" lang="ru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" name="Google Shape;88;p19"/>
          <p:cNvSpPr txBox="1"/>
          <p:nvPr/>
        </p:nvSpPr>
        <p:spPr>
          <a:xfrm>
            <a:off x="6407056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i="0" lang="ru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i="0" lang="ru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i="0" sz="9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i="0" lang="ru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писок в 2 колонки ">
  <p:cSld name="CUSTOM_8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0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aphicFrame>
        <p:nvGraphicFramePr>
          <p:cNvPr id="91" name="Google Shape;91;p20"/>
          <p:cNvGraphicFramePr/>
          <p:nvPr/>
        </p:nvGraphicFramePr>
        <p:xfrm>
          <a:off x="655650" y="1745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{0B489C6E-23CD-4EE1-AA48-215A20A13C27}</a:tableStyleId>
              </a:tblPr>
              <a:tblGrid>
                <a:gridCol w="3800400"/>
                <a:gridCol w="4410000"/>
              </a:tblGrid>
              <a:tr h="479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b="1" lang="ru" sz="170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 Описание эксперимента</a:t>
                      </a:r>
                      <a:r>
                        <a:rPr b="1" lang="ru" sz="17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b="1" lang="ru" sz="170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 Технические детали</a:t>
                      </a:r>
                      <a:endParaRPr b="1" sz="170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16175">
                <a:tc>
                  <a:txBody>
                    <a:bodyPr/>
                    <a:lstStyle/>
                    <a:p>
                      <a:pPr indent="-3238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Гипотеза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-3238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Целевая аудитория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-3238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Ожидаемый результат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Roboto"/>
                        <a:buChar char="●"/>
                      </a:pPr>
                      <a:r>
                        <a:rPr lang="ru" sz="17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Реализация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-3238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Настройки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-3238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Метрики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сылка на источник" type="twoColTx">
  <p:cSld name="TITLE_AND_TWO_COLUMNS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1"/>
          <p:cNvSpPr txBox="1"/>
          <p:nvPr/>
        </p:nvSpPr>
        <p:spPr>
          <a:xfrm>
            <a:off x="556300" y="4554000"/>
            <a:ext cx="4239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добавьте ссылку на источник</a:t>
            </a:r>
            <a:endParaRPr sz="1100">
              <a:solidFill>
                <a:srgbClr val="013D8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397">
          <p15:clr>
            <a:srgbClr val="FA7B17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с подтемой">
  <p:cSld name="MAIN_POINT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2"/>
          <p:cNvSpPr txBox="1"/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аблица ">
  <p:cSld name="CUSTOM_1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3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aphicFrame>
        <p:nvGraphicFramePr>
          <p:cNvPr id="98" name="Google Shape;98;p23"/>
          <p:cNvGraphicFramePr/>
          <p:nvPr/>
        </p:nvGraphicFramePr>
        <p:xfrm>
          <a:off x="608700" y="1593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{0B489C6E-23CD-4EE1-AA48-215A20A13C27}</a:tableStyleId>
              </a:tblPr>
              <a:tblGrid>
                <a:gridCol w="395875"/>
                <a:gridCol w="2403400"/>
                <a:gridCol w="2684725"/>
                <a:gridCol w="2477150"/>
              </a:tblGrid>
              <a:tr h="706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600">
                        <a:solidFill>
                          <a:srgbClr val="4811C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60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b="1" sz="160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ru" sz="160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b="1" sz="160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ru" sz="160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b="1" sz="160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20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3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0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0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0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0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плашки + иллюстрация">
  <p:cSld name="SECTION_TITLE_AND_DESCRIPTION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01" name="Google Shape;101;p24"/>
          <p:cNvSpPr/>
          <p:nvPr/>
        </p:nvSpPr>
        <p:spPr>
          <a:xfrm>
            <a:off x="791625" y="1039150"/>
            <a:ext cx="3640800" cy="7059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" name="Google Shape;102;p24"/>
          <p:cNvSpPr/>
          <p:nvPr/>
        </p:nvSpPr>
        <p:spPr>
          <a:xfrm>
            <a:off x="791625" y="1904882"/>
            <a:ext cx="3640800" cy="7059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" name="Google Shape;103;p24"/>
          <p:cNvSpPr/>
          <p:nvPr/>
        </p:nvSpPr>
        <p:spPr>
          <a:xfrm>
            <a:off x="791625" y="2770607"/>
            <a:ext cx="3640800" cy="7059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" name="Google Shape;104;p24"/>
          <p:cNvSpPr/>
          <p:nvPr/>
        </p:nvSpPr>
        <p:spPr>
          <a:xfrm>
            <a:off x="791625" y="3636339"/>
            <a:ext cx="3640800" cy="7059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5" name="Google Shape;105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533900" y="1409075"/>
            <a:ext cx="2468700" cy="2468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">
  <p:cSld name="CUSTOM_3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5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блока">
  <p:cSld name="CUSTOM_7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6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26"/>
          <p:cNvSpPr/>
          <p:nvPr/>
        </p:nvSpPr>
        <p:spPr>
          <a:xfrm>
            <a:off x="932713" y="1748200"/>
            <a:ext cx="2127900" cy="2929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" name="Google Shape;111;p26"/>
          <p:cNvSpPr/>
          <p:nvPr/>
        </p:nvSpPr>
        <p:spPr>
          <a:xfrm>
            <a:off x="3436420" y="1748200"/>
            <a:ext cx="2127900" cy="2929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" name="Google Shape;112;p26"/>
          <p:cNvSpPr/>
          <p:nvPr/>
        </p:nvSpPr>
        <p:spPr>
          <a:xfrm>
            <a:off x="5940127" y="1748200"/>
            <a:ext cx="2127900" cy="2929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" name="Google Shape;113;p26"/>
          <p:cNvSpPr txBox="1"/>
          <p:nvPr/>
        </p:nvSpPr>
        <p:spPr>
          <a:xfrm>
            <a:off x="1073575" y="2074863"/>
            <a:ext cx="1846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Поле для текста</a:t>
            </a:r>
            <a:endParaRPr sz="1100"/>
          </a:p>
        </p:txBody>
      </p:sp>
      <p:sp>
        <p:nvSpPr>
          <p:cNvPr id="114" name="Google Shape;114;p26"/>
          <p:cNvSpPr txBox="1"/>
          <p:nvPr/>
        </p:nvSpPr>
        <p:spPr>
          <a:xfrm>
            <a:off x="3530920" y="2074863"/>
            <a:ext cx="1938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Поле для текста</a:t>
            </a:r>
            <a:endParaRPr/>
          </a:p>
        </p:txBody>
      </p:sp>
      <p:sp>
        <p:nvSpPr>
          <p:cNvPr id="115" name="Google Shape;115;p26"/>
          <p:cNvSpPr txBox="1"/>
          <p:nvPr/>
        </p:nvSpPr>
        <p:spPr>
          <a:xfrm>
            <a:off x="6080975" y="2074863"/>
            <a:ext cx="1938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Поле для текста</a:t>
            </a: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пределение" type="title">
  <p:cSld name="TITLE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8"/>
          <p:cNvSpPr txBox="1"/>
          <p:nvPr>
            <p:ph idx="1" type="subTitle"/>
          </p:nvPr>
        </p:nvSpPr>
        <p:spPr>
          <a:xfrm>
            <a:off x="944650" y="4350425"/>
            <a:ext cx="77103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2" name="Google Shape;122;p28"/>
          <p:cNvSpPr txBox="1"/>
          <p:nvPr/>
        </p:nvSpPr>
        <p:spPr>
          <a:xfrm>
            <a:off x="549614" y="1802270"/>
            <a:ext cx="7636200" cy="31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400">
                <a:solidFill>
                  <a:srgbClr val="9857F3"/>
                </a:solidFill>
                <a:latin typeface="Roboto"/>
                <a:ea typeface="Roboto"/>
                <a:cs typeface="Roboto"/>
                <a:sym typeface="Roboto"/>
              </a:rPr>
              <a:t>Определение</a:t>
            </a:r>
            <a:r>
              <a:rPr i="0" lang="ru" sz="2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– </a:t>
            </a:r>
            <a:r>
              <a:rPr lang="ru" sz="2400"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их типов данных, соглашений об именовании и правил проверки целостностей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ажный тезис крупным шрифтом " type="secHead">
  <p:cSld name="SECTION_HEADER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9"/>
          <p:cNvSpPr txBox="1"/>
          <p:nvPr>
            <p:ph type="title"/>
          </p:nvPr>
        </p:nvSpPr>
        <p:spPr>
          <a:xfrm>
            <a:off x="500550" y="1940306"/>
            <a:ext cx="79353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5" name="Google Shape;125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екст + картинка" type="tx">
  <p:cSld name="TITLE_AND_BODY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28" name="Google Shape;128;p30"/>
          <p:cNvSpPr txBox="1"/>
          <p:nvPr/>
        </p:nvSpPr>
        <p:spPr>
          <a:xfrm>
            <a:off x="630550" y="1572900"/>
            <a:ext cx="39063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Главная мысль </a:t>
            </a:r>
            <a:endParaRPr b="1" sz="3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слайда, тезис, определение</a:t>
            </a:r>
            <a:endParaRPr b="1" sz="3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9" name="Google Shape;129;p30"/>
          <p:cNvPicPr preferRelativeResize="0"/>
          <p:nvPr/>
        </p:nvPicPr>
        <p:blipFill rotWithShape="1">
          <a:blip r:embed="rId2">
            <a:alphaModFix/>
          </a:blip>
          <a:srcRect b="10734" l="0" r="0" t="10742"/>
          <a:stretch/>
        </p:blipFill>
        <p:spPr>
          <a:xfrm>
            <a:off x="5581050" y="867901"/>
            <a:ext cx="2868000" cy="31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ема вебинара" type="twoColTx">
  <p:cSld name="TITLE_AND_TWO_COLUMNS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97">
          <p15:clr>
            <a:srgbClr val="FA7B17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азделительный слайд">
  <p:cSld name="MAIN_POINT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 себе">
  <p:cSld name="CUSTOM_1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3"/>
          <p:cNvSpPr txBox="1"/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аздел+описание">
  <p:cSld name="SECTION_TITLE_AND_DESCRIPTION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34"/>
          <p:cNvSpPr txBox="1"/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38" name="Google Shape;138;p34"/>
          <p:cNvSpPr txBox="1"/>
          <p:nvPr>
            <p:ph idx="1" type="subTitle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  <p:sp>
        <p:nvSpPr>
          <p:cNvPr id="139" name="Google Shape;139;p3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11150" lvl="4" marL="228600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indent="-311150" lvl="5" marL="27432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indent="-311150" lvl="6" marL="32004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indent="-311150" lvl="7" marL="365760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indent="-311150" lvl="8" marL="41148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/>
        </p:txBody>
      </p:sp>
      <p:sp>
        <p:nvSpPr>
          <p:cNvPr id="140" name="Google Shape;140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">
  <p:cSld name="CUSTOM_3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6"/>
          <p:cNvSpPr txBox="1"/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с кодом 1">
  <p:cSld name="CUSTOM_2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7"/>
          <p:cNvSpPr txBox="1"/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7" name="Google Shape;147;p37"/>
          <p:cNvSpPr/>
          <p:nvPr/>
        </p:nvSpPr>
        <p:spPr>
          <a:xfrm>
            <a:off x="606200" y="1441163"/>
            <a:ext cx="7938600" cy="35649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37"/>
          <p:cNvSpPr txBox="1"/>
          <p:nvPr>
            <p:ph idx="1" type="subTitle"/>
          </p:nvPr>
        </p:nvSpPr>
        <p:spPr>
          <a:xfrm>
            <a:off x="743675" y="1496071"/>
            <a:ext cx="8226300" cy="345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None/>
              <a:defRPr sz="1100">
                <a:latin typeface="Courier New"/>
                <a:ea typeface="Courier New"/>
                <a:cs typeface="Courier New"/>
                <a:sym typeface="Courier New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с кодом 2">
  <p:cSld name="CUSTOM_2_1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8"/>
          <p:cNvSpPr txBox="1"/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КОД+ТЕКСТ 1">
  <p:cSld name="CUSTOM_4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9"/>
          <p:cNvSpPr txBox="1"/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3" name="Google Shape;153;p39"/>
          <p:cNvSpPr/>
          <p:nvPr/>
        </p:nvSpPr>
        <p:spPr>
          <a:xfrm>
            <a:off x="606200" y="2144231"/>
            <a:ext cx="7938600" cy="2464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КОД+ТЕКСТ 2">
  <p:cSld name="CUSTOM_4_1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40"/>
          <p:cNvSpPr txBox="1"/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6" name="Google Shape;156;p40"/>
          <p:cNvSpPr/>
          <p:nvPr/>
        </p:nvSpPr>
        <p:spPr>
          <a:xfrm>
            <a:off x="362300" y="1364963"/>
            <a:ext cx="4748700" cy="35649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40"/>
          <p:cNvSpPr txBox="1"/>
          <p:nvPr>
            <p:ph idx="1" type="subTitle"/>
          </p:nvPr>
        </p:nvSpPr>
        <p:spPr>
          <a:xfrm>
            <a:off x="500550" y="1474819"/>
            <a:ext cx="4428600" cy="345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  <p:sp>
        <p:nvSpPr>
          <p:cNvPr id="158" name="Google Shape;158;p40"/>
          <p:cNvSpPr txBox="1"/>
          <p:nvPr>
            <p:ph idx="2" type="subTitle"/>
          </p:nvPr>
        </p:nvSpPr>
        <p:spPr>
          <a:xfrm>
            <a:off x="5555275" y="1474819"/>
            <a:ext cx="3151200" cy="326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0" sz="130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41"/>
          <p:cNvSpPr txBox="1"/>
          <p:nvPr>
            <p:ph type="title"/>
          </p:nvPr>
        </p:nvSpPr>
        <p:spPr>
          <a:xfrm>
            <a:off x="500550" y="1783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1" name="Google Shape;161;p41"/>
          <p:cNvSpPr txBox="1"/>
          <p:nvPr>
            <p:ph idx="1" type="body"/>
          </p:nvPr>
        </p:nvSpPr>
        <p:spPr>
          <a:xfrm>
            <a:off x="500550" y="14264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500"/>
              <a:buChar char="●"/>
              <a:defRPr sz="1500"/>
            </a:lvl1pPr>
            <a:lvl2pPr indent="-311150" lvl="1" marL="9144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2pPr>
            <a:lvl3pPr indent="-311150" lvl="2" marL="1371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3pPr>
            <a:lvl4pPr indent="-311150" lvl="3" marL="1828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4pPr>
            <a:lvl5pPr indent="-31115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indent="-311150" lvl="5" marL="27432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6pPr>
            <a:lvl7pPr indent="-311150" lvl="6" marL="32004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7pPr>
            <a:lvl8pPr indent="-311150" lvl="7" marL="3657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8pPr>
            <a:lvl9pPr indent="-311150" lvl="8" marL="4114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/>
        </p:txBody>
      </p:sp>
      <p:sp>
        <p:nvSpPr>
          <p:cNvPr id="162" name="Google Shape;162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аш макет 1">
  <p:cSld name="CUSTOM_5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42"/>
          <p:cNvSpPr txBox="1"/>
          <p:nvPr>
            <p:ph type="title"/>
          </p:nvPr>
        </p:nvSpPr>
        <p:spPr>
          <a:xfrm>
            <a:off x="500550" y="2545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43"/>
          <p:cNvSpPr txBox="1"/>
          <p:nvPr>
            <p:ph idx="12" type="sldNum"/>
          </p:nvPr>
        </p:nvSpPr>
        <p:spPr>
          <a:xfrm>
            <a:off x="6583680" y="4783455"/>
            <a:ext cx="2103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азделительный слайд-синий">
  <p:cSld name="MAIN_POINT_2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с подтемой">
  <p:cSld name="MAIN_POINT_3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45"/>
          <p:cNvSpPr txBox="1"/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блок текст + картинка" type="title">
  <p:cSld name="TITLE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47"/>
          <p:cNvSpPr txBox="1"/>
          <p:nvPr>
            <p:ph type="title"/>
          </p:nvPr>
        </p:nvSpPr>
        <p:spPr>
          <a:xfrm>
            <a:off x="495300" y="1493850"/>
            <a:ext cx="4424100" cy="215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pic>
        <p:nvPicPr>
          <p:cNvPr id="177" name="Google Shape;177;p4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283625" y="843000"/>
            <a:ext cx="3457500" cy="345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1247">
          <p15:clr>
            <a:srgbClr val="E46962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Цитата, фон градиент" type="secHead">
  <p:cSld name="SECTION_HEADER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48"/>
          <p:cNvSpPr txBox="1"/>
          <p:nvPr>
            <p:ph type="title"/>
          </p:nvPr>
        </p:nvSpPr>
        <p:spPr>
          <a:xfrm>
            <a:off x="604350" y="1999200"/>
            <a:ext cx="7935300" cy="114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0" name="Google Shape;180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этапы процесса">
  <p:cSld name="CUSTOM_5"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9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83" name="Google Shape;183;p4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22851" y="1821363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pic>
        <p:nvPicPr>
          <p:cNvPr id="184" name="Google Shape;184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68289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pic>
        <p:nvPicPr>
          <p:cNvPr id="185" name="Google Shape;185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7615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pic>
        <p:nvPicPr>
          <p:cNvPr id="186" name="Google Shape;186;p4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47001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sp>
        <p:nvSpPr>
          <p:cNvPr id="187" name="Google Shape;187;p49"/>
          <p:cNvSpPr txBox="1"/>
          <p:nvPr/>
        </p:nvSpPr>
        <p:spPr>
          <a:xfrm>
            <a:off x="1213006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1</a:t>
            </a:r>
            <a:endParaRPr b="1" sz="1500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8" name="Google Shape;188;p49"/>
          <p:cNvSpPr txBox="1"/>
          <p:nvPr/>
        </p:nvSpPr>
        <p:spPr>
          <a:xfrm>
            <a:off x="3058443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2</a:t>
            </a:r>
            <a:endParaRPr b="1" sz="1500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9" name="Google Shape;189;p49"/>
          <p:cNvSpPr txBox="1"/>
          <p:nvPr/>
        </p:nvSpPr>
        <p:spPr>
          <a:xfrm>
            <a:off x="4817770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3</a:t>
            </a:r>
            <a:endParaRPr b="1" sz="1500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0" name="Google Shape;190;p49"/>
          <p:cNvSpPr txBox="1"/>
          <p:nvPr/>
        </p:nvSpPr>
        <p:spPr>
          <a:xfrm>
            <a:off x="6637156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4</a:t>
            </a:r>
            <a:endParaRPr b="1" sz="1500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1" name="Google Shape;191;p49"/>
          <p:cNvSpPr txBox="1"/>
          <p:nvPr/>
        </p:nvSpPr>
        <p:spPr>
          <a:xfrm>
            <a:off x="982906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i="0" lang="ru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i="0" lang="ru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i="0" sz="9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i="0" lang="ru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2" name="Google Shape;192;p49"/>
          <p:cNvSpPr txBox="1"/>
          <p:nvPr/>
        </p:nvSpPr>
        <p:spPr>
          <a:xfrm>
            <a:off x="2828343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i="0" lang="ru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i="0" lang="ru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i="0" sz="9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i="0" lang="ru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3" name="Google Shape;193;p49"/>
          <p:cNvSpPr txBox="1"/>
          <p:nvPr/>
        </p:nvSpPr>
        <p:spPr>
          <a:xfrm>
            <a:off x="4587670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i="0" lang="ru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i="0" lang="ru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i="0" sz="9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i="0" lang="ru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4" name="Google Shape;194;p49"/>
          <p:cNvSpPr txBox="1"/>
          <p:nvPr/>
        </p:nvSpPr>
        <p:spPr>
          <a:xfrm>
            <a:off x="6407056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i="0" lang="ru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i="0" lang="ru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i="0" sz="9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i="0" lang="ru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писок в 2 колонки ">
  <p:cSld name="CUSTOM_8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50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aphicFrame>
        <p:nvGraphicFramePr>
          <p:cNvPr id="197" name="Google Shape;197;p50"/>
          <p:cNvGraphicFramePr/>
          <p:nvPr/>
        </p:nvGraphicFramePr>
        <p:xfrm>
          <a:off x="655650" y="1745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{0B489C6E-23CD-4EE1-AA48-215A20A13C27}</a:tableStyleId>
              </a:tblPr>
              <a:tblGrid>
                <a:gridCol w="3800400"/>
                <a:gridCol w="4410000"/>
              </a:tblGrid>
              <a:tr h="479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b="1" lang="ru" sz="170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 Описание эксперимента</a:t>
                      </a:r>
                      <a:r>
                        <a:rPr b="1" lang="ru" sz="17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b="1" lang="ru" sz="170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 Технические детали</a:t>
                      </a:r>
                      <a:endParaRPr b="1" sz="170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16175">
                <a:tc>
                  <a:txBody>
                    <a:bodyPr/>
                    <a:lstStyle/>
                    <a:p>
                      <a:pPr indent="-3238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Гипотеза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-3238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Целевая аудитория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-3238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Ожидаемый результат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Roboto"/>
                        <a:buChar char="●"/>
                      </a:pPr>
                      <a:r>
                        <a:rPr lang="ru" sz="17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Реализация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-3238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Настройки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-3238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Метрики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сылка на источник" type="twoColTx">
  <p:cSld name="TITLE_AND_TWO_COLUMNS"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51"/>
          <p:cNvSpPr txBox="1"/>
          <p:nvPr/>
        </p:nvSpPr>
        <p:spPr>
          <a:xfrm>
            <a:off x="556300" y="4554000"/>
            <a:ext cx="4239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добавьте ссылку на источник</a:t>
            </a:r>
            <a:endParaRPr sz="1100">
              <a:solidFill>
                <a:srgbClr val="013D8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397">
          <p15:clr>
            <a:srgbClr val="FA7B17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с подтемой">
  <p:cSld name="MAIN_POINT"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52"/>
          <p:cNvSpPr txBox="1"/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аблица ">
  <p:cSld name="CUSTOM_1"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53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aphicFrame>
        <p:nvGraphicFramePr>
          <p:cNvPr id="204" name="Google Shape;204;p53"/>
          <p:cNvGraphicFramePr/>
          <p:nvPr/>
        </p:nvGraphicFramePr>
        <p:xfrm>
          <a:off x="608700" y="1593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{0B489C6E-23CD-4EE1-AA48-215A20A13C27}</a:tableStyleId>
              </a:tblPr>
              <a:tblGrid>
                <a:gridCol w="395875"/>
                <a:gridCol w="2403400"/>
                <a:gridCol w="2684725"/>
                <a:gridCol w="2477150"/>
              </a:tblGrid>
              <a:tr h="706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600">
                        <a:solidFill>
                          <a:srgbClr val="4811C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60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b="1" sz="160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ru" sz="160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b="1" sz="160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ru" sz="160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b="1" sz="160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20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3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0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0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0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0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плашки + иллюстрация">
  <p:cSld name="SECTION_TITLE_AND_DESCRIPTION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07" name="Google Shape;207;p54"/>
          <p:cNvSpPr/>
          <p:nvPr/>
        </p:nvSpPr>
        <p:spPr>
          <a:xfrm>
            <a:off x="791625" y="1039150"/>
            <a:ext cx="3640800" cy="7059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8" name="Google Shape;208;p54"/>
          <p:cNvSpPr/>
          <p:nvPr/>
        </p:nvSpPr>
        <p:spPr>
          <a:xfrm>
            <a:off x="791625" y="1904882"/>
            <a:ext cx="3640800" cy="7059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9" name="Google Shape;209;p54"/>
          <p:cNvSpPr/>
          <p:nvPr/>
        </p:nvSpPr>
        <p:spPr>
          <a:xfrm>
            <a:off x="791625" y="2770607"/>
            <a:ext cx="3640800" cy="7059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0" name="Google Shape;210;p54"/>
          <p:cNvSpPr/>
          <p:nvPr/>
        </p:nvSpPr>
        <p:spPr>
          <a:xfrm>
            <a:off x="791625" y="3636339"/>
            <a:ext cx="3640800" cy="7059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11" name="Google Shape;211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533900" y="1409075"/>
            <a:ext cx="2468700" cy="2468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">
  <p:cSld name="CUSTOM_3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55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блока">
  <p:cSld name="CUSTOM_7"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56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6" name="Google Shape;216;p56"/>
          <p:cNvSpPr/>
          <p:nvPr/>
        </p:nvSpPr>
        <p:spPr>
          <a:xfrm>
            <a:off x="932713" y="1748200"/>
            <a:ext cx="2127900" cy="2929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7" name="Google Shape;217;p56"/>
          <p:cNvSpPr/>
          <p:nvPr/>
        </p:nvSpPr>
        <p:spPr>
          <a:xfrm>
            <a:off x="3436420" y="1748200"/>
            <a:ext cx="2127900" cy="2929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8" name="Google Shape;218;p56"/>
          <p:cNvSpPr/>
          <p:nvPr/>
        </p:nvSpPr>
        <p:spPr>
          <a:xfrm>
            <a:off x="5940127" y="1748200"/>
            <a:ext cx="2127900" cy="2929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9" name="Google Shape;219;p56"/>
          <p:cNvSpPr txBox="1"/>
          <p:nvPr/>
        </p:nvSpPr>
        <p:spPr>
          <a:xfrm>
            <a:off x="1073575" y="2074863"/>
            <a:ext cx="1846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Поле для текста</a:t>
            </a:r>
            <a:endParaRPr sz="1100"/>
          </a:p>
        </p:txBody>
      </p:sp>
      <p:sp>
        <p:nvSpPr>
          <p:cNvPr id="220" name="Google Shape;220;p56"/>
          <p:cNvSpPr txBox="1"/>
          <p:nvPr/>
        </p:nvSpPr>
        <p:spPr>
          <a:xfrm>
            <a:off x="3530920" y="2074863"/>
            <a:ext cx="1938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Поле для текста</a:t>
            </a:r>
            <a:endParaRPr/>
          </a:p>
        </p:txBody>
      </p:sp>
      <p:sp>
        <p:nvSpPr>
          <p:cNvPr id="221" name="Google Shape;221;p56"/>
          <p:cNvSpPr txBox="1"/>
          <p:nvPr/>
        </p:nvSpPr>
        <p:spPr>
          <a:xfrm>
            <a:off x="6080975" y="2074863"/>
            <a:ext cx="1938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Поле для текста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2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6" Type="http://schemas.openxmlformats.org/officeDocument/2006/relationships/theme" Target="../theme/theme1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3.xml"/><Relationship Id="rId12" Type="http://schemas.openxmlformats.org/officeDocument/2006/relationships/theme" Target="../theme/theme2.xml"/><Relationship Id="rId1" Type="http://schemas.openxmlformats.org/officeDocument/2006/relationships/image" Target="../media/image22.png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0.xml"/><Relationship Id="rId8" Type="http://schemas.openxmlformats.org/officeDocument/2006/relationships/slideLayout" Target="../slideLayouts/slideLayout21.xml"/></Relationships>
</file>

<file path=ppt/slideMasters/_rels/slideMaster3.xml.rels><?xml version="1.0" encoding="UTF-8" standalone="yes"?><Relationships xmlns="http://schemas.openxmlformats.org/package/2006/relationships"><Relationship Id="rId20" Type="http://schemas.openxmlformats.org/officeDocument/2006/relationships/theme" Target="../theme/theme3.xml"/><Relationship Id="rId11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6.xml"/><Relationship Id="rId12" Type="http://schemas.openxmlformats.org/officeDocument/2006/relationships/slideLayout" Target="../slideLayouts/slideLayout35.xml"/><Relationship Id="rId1" Type="http://schemas.openxmlformats.org/officeDocument/2006/relationships/image" Target="../media/image22.png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5" Type="http://schemas.openxmlformats.org/officeDocument/2006/relationships/slideLayout" Target="../slideLayouts/slideLayout38.xml"/><Relationship Id="rId14" Type="http://schemas.openxmlformats.org/officeDocument/2006/relationships/slideLayout" Target="../slideLayouts/slideLayout37.xml"/><Relationship Id="rId17" Type="http://schemas.openxmlformats.org/officeDocument/2006/relationships/slideLayout" Target="../slideLayouts/slideLayout40.xml"/><Relationship Id="rId16" Type="http://schemas.openxmlformats.org/officeDocument/2006/relationships/slideLayout" Target="../slideLayouts/slideLayout39.xml"/><Relationship Id="rId5" Type="http://schemas.openxmlformats.org/officeDocument/2006/relationships/slideLayout" Target="../slideLayouts/slideLayout28.xml"/><Relationship Id="rId19" Type="http://schemas.openxmlformats.org/officeDocument/2006/relationships/slideLayout" Target="../slideLayouts/slideLayout42.xml"/><Relationship Id="rId6" Type="http://schemas.openxmlformats.org/officeDocument/2006/relationships/slideLayout" Target="../slideLayouts/slideLayout29.xml"/><Relationship Id="rId18" Type="http://schemas.openxmlformats.org/officeDocument/2006/relationships/slideLayout" Target="../slideLayouts/slideLayout41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/Relationships>
</file>

<file path=ppt/slideMasters/_rels/slideMaster4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52.xml"/><Relationship Id="rId10" Type="http://schemas.openxmlformats.org/officeDocument/2006/relationships/slideLayout" Target="../slideLayouts/slideLayout51.xml"/><Relationship Id="rId12" Type="http://schemas.openxmlformats.org/officeDocument/2006/relationships/theme" Target="../theme/theme4.xml"/><Relationship Id="rId1" Type="http://schemas.openxmlformats.org/officeDocument/2006/relationships/image" Target="../media/image22.png"/><Relationship Id="rId2" Type="http://schemas.openxmlformats.org/officeDocument/2006/relationships/slideLayout" Target="../slideLayouts/slideLayout43.xml"/><Relationship Id="rId3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5.xml"/><Relationship Id="rId9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6.xml"/><Relationship Id="rId6" Type="http://schemas.openxmlformats.org/officeDocument/2006/relationships/slideLayout" Target="../slideLayouts/slideLayout47.xml"/><Relationship Id="rId7" Type="http://schemas.openxmlformats.org/officeDocument/2006/relationships/slideLayout" Target="../slideLayouts/slideLayout48.xml"/><Relationship Id="rId8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b="1" sz="3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6550" lvl="0" marL="4572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23850" lvl="1" marL="9144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1150" lvl="2" marL="1371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1150" lvl="3" marL="18288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1150" lvl="4" marL="2286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1150" lvl="5" marL="27432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1150" lvl="6" marL="32004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1150" lvl="7" marL="3657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1150" lvl="8" marL="41148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b="1"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67" name="Google Shape;67;p16"/>
          <p:cNvSpPr txBox="1"/>
          <p:nvPr>
            <p:ph idx="1" type="body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23850" lvl="1" marL="9144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1150" lvl="2" marL="1371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1150" lvl="3" marL="18288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1150" lvl="4" marL="2286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○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1150" lvl="5" marL="27432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1150" lvl="6" marL="32004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1150" lvl="7" marL="3657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○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1150" lvl="8" marL="41148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68" name="Google Shape;6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7"/>
          <p:cNvSpPr txBox="1"/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b="1" sz="3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18" name="Google Shape;118;p27"/>
          <p:cNvSpPr txBox="1"/>
          <p:nvPr>
            <p:ph idx="1" type="body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6550" lvl="0" marL="4572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23850" lvl="1" marL="9144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1150" lvl="2" marL="1371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1150" lvl="3" marL="18288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1150" lvl="4" marL="2286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1150" lvl="5" marL="27432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1150" lvl="6" marL="32004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1150" lvl="7" marL="3657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1150" lvl="8" marL="41148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19" name="Google Shape;119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  <p:sldLayoutId id="2147483682" r:id="rId12"/>
    <p:sldLayoutId id="2147483683" r:id="rId13"/>
    <p:sldLayoutId id="2147483684" r:id="rId14"/>
    <p:sldLayoutId id="2147483685" r:id="rId15"/>
    <p:sldLayoutId id="2147483686" r:id="rId16"/>
    <p:sldLayoutId id="2147483687" r:id="rId17"/>
    <p:sldLayoutId id="2147483688" r:id="rId18"/>
    <p:sldLayoutId id="2147483689" r:id="rId1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46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b="1"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73" name="Google Shape;173;p46"/>
          <p:cNvSpPr txBox="1"/>
          <p:nvPr>
            <p:ph idx="1" type="body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23850" lvl="1" marL="9144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1150" lvl="2" marL="1371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1150" lvl="3" marL="18288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1150" lvl="4" marL="2286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○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1150" lvl="5" marL="27432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1150" lvl="6" marL="32004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1150" lvl="7" marL="3657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○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1150" lvl="8" marL="41148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74" name="Google Shape;174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57"/>
          <p:cNvSpPr txBox="1"/>
          <p:nvPr>
            <p:ph type="title"/>
          </p:nvPr>
        </p:nvSpPr>
        <p:spPr>
          <a:xfrm>
            <a:off x="744125" y="1415974"/>
            <a:ext cx="7935300" cy="1416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000">
                <a:solidFill>
                  <a:schemeClr val="dk1"/>
                </a:solidFill>
              </a:rPr>
              <a:t>Меня хорошо видно</a:t>
            </a:r>
            <a:endParaRPr sz="4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>
                <a:solidFill>
                  <a:schemeClr val="dk1"/>
                </a:solidFill>
              </a:rPr>
              <a:t>&amp; слышно?</a:t>
            </a:r>
            <a:endParaRPr sz="4000">
              <a:solidFill>
                <a:schemeClr val="dk1"/>
              </a:solidFill>
            </a:endParaRPr>
          </a:p>
        </p:txBody>
      </p:sp>
      <p:pic>
        <p:nvPicPr>
          <p:cNvPr id="227" name="Google Shape;227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4062" y="3841075"/>
            <a:ext cx="545712" cy="54571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5575" y="3890890"/>
            <a:ext cx="537262" cy="5372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" name="Google Shape;233;p58"/>
          <p:cNvPicPr preferRelativeResize="0"/>
          <p:nvPr/>
        </p:nvPicPr>
        <p:blipFill rotWithShape="1">
          <a:blip r:embed="rId3">
            <a:alphaModFix/>
          </a:blip>
          <a:srcRect b="38717" l="0" r="0" t="5495"/>
          <a:stretch/>
        </p:blipFill>
        <p:spPr>
          <a:xfrm>
            <a:off x="-75950" y="0"/>
            <a:ext cx="921995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58"/>
          <p:cNvSpPr/>
          <p:nvPr/>
        </p:nvSpPr>
        <p:spPr>
          <a:xfrm>
            <a:off x="433125" y="553500"/>
            <a:ext cx="4161600" cy="415500"/>
          </a:xfrm>
          <a:prstGeom prst="roundRect">
            <a:avLst>
              <a:gd fmla="val 16667" name="adj"/>
            </a:avLst>
          </a:prstGeom>
          <a:solidFill>
            <a:srgbClr val="740FB4"/>
          </a:solidFill>
          <a:ln>
            <a:noFill/>
          </a:ln>
          <a:effectLst>
            <a:outerShdw blurRad="200025" rotWithShape="0" algn="bl" dir="5400000" dist="28575">
              <a:srgbClr val="000000">
                <a:alpha val="28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5" name="Google Shape;235;p58"/>
          <p:cNvSpPr txBox="1"/>
          <p:nvPr/>
        </p:nvSpPr>
        <p:spPr>
          <a:xfrm>
            <a:off x="433125" y="1890725"/>
            <a:ext cx="62568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Двухуровневая</a:t>
            </a:r>
            <a:r>
              <a:rPr b="1" lang="ru" sz="1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гибридная рекомендательная система семантического поиска развернутая на базе NVIDIA Triton Inference Server и векторной СУБД Qdrant</a:t>
            </a:r>
            <a:r>
              <a:rPr b="1" lang="ru"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b="1" sz="16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5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6" name="Google Shape;236;p58"/>
          <p:cNvSpPr txBox="1"/>
          <p:nvPr/>
        </p:nvSpPr>
        <p:spPr>
          <a:xfrm>
            <a:off x="572150" y="553500"/>
            <a:ext cx="4341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4F4F6"/>
                </a:solidFill>
                <a:latin typeface="Roboto Medium"/>
                <a:ea typeface="Roboto Medium"/>
                <a:cs typeface="Roboto Medium"/>
                <a:sym typeface="Roboto Medium"/>
              </a:rPr>
              <a:t>LLM-инженер</a:t>
            </a:r>
            <a:endParaRPr sz="1500">
              <a:solidFill>
                <a:srgbClr val="F4F4F6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237" name="Google Shape;237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13700" y="268875"/>
            <a:ext cx="822175" cy="284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5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08125" y="2113144"/>
            <a:ext cx="1787901" cy="2849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59"/>
          <p:cNvSpPr txBox="1"/>
          <p:nvPr>
            <p:ph type="title"/>
          </p:nvPr>
        </p:nvSpPr>
        <p:spPr>
          <a:xfrm>
            <a:off x="500550" y="821225"/>
            <a:ext cx="8520600" cy="133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800"/>
              <a:t>Защита проекта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800"/>
              <a:t>Тема: </a:t>
            </a:r>
            <a:r>
              <a:rPr i="1" lang="ru" sz="1800">
                <a:solidFill>
                  <a:srgbClr val="0645AD"/>
                </a:solidFill>
                <a:highlight>
                  <a:schemeClr val="lt1"/>
                </a:highlight>
              </a:rPr>
              <a:t>Двухуровневая гибридная рекомендательная система семантического поиска развернутая на базе NVIDIA Triton Inference Server и векторной СУБД Qdrant</a:t>
            </a:r>
            <a:r>
              <a:rPr lang="ru" sz="1100">
                <a:solidFill>
                  <a:srgbClr val="0645AD"/>
                </a:solidFill>
                <a:highlight>
                  <a:schemeClr val="lt1"/>
                </a:highlight>
              </a:rPr>
              <a:t> </a:t>
            </a:r>
            <a:endParaRPr sz="2500">
              <a:solidFill>
                <a:srgbClr val="0645AD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4" name="Google Shape;244;p59" title="Фото.png"/>
          <p:cNvPicPr preferRelativeResize="0"/>
          <p:nvPr/>
        </p:nvPicPr>
        <p:blipFill rotWithShape="1">
          <a:blip r:embed="rId3">
            <a:alphaModFix/>
          </a:blip>
          <a:srcRect b="11144" l="0" r="0" t="11144"/>
          <a:stretch/>
        </p:blipFill>
        <p:spPr>
          <a:xfrm>
            <a:off x="630000" y="2155326"/>
            <a:ext cx="2349900" cy="23187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45" name="Google Shape;245;p59"/>
          <p:cNvSpPr txBox="1"/>
          <p:nvPr/>
        </p:nvSpPr>
        <p:spPr>
          <a:xfrm>
            <a:off x="3899475" y="2746326"/>
            <a:ext cx="3701700" cy="37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300">
                <a:solidFill>
                  <a:srgbClr val="9857F3"/>
                </a:solidFill>
                <a:latin typeface="Roboto"/>
                <a:ea typeface="Roboto"/>
                <a:cs typeface="Roboto"/>
                <a:sym typeface="Roboto"/>
              </a:rPr>
              <a:t>Филатов Алексей</a:t>
            </a:r>
            <a:endParaRPr b="1" sz="2300">
              <a:solidFill>
                <a:srgbClr val="9857F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6" name="Google Shape;246;p59"/>
          <p:cNvSpPr txBox="1"/>
          <p:nvPr/>
        </p:nvSpPr>
        <p:spPr>
          <a:xfrm>
            <a:off x="3899475" y="3122213"/>
            <a:ext cx="5337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latin typeface="Roboto Medium"/>
                <a:ea typeface="Roboto Medium"/>
                <a:cs typeface="Roboto Medium"/>
                <a:sym typeface="Roboto Medium"/>
              </a:rPr>
              <a:t>РСХБ-Автоматизация</a:t>
            </a:r>
            <a:endParaRPr sz="1300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60"/>
          <p:cNvSpPr txBox="1"/>
          <p:nvPr>
            <p:ph type="title"/>
          </p:nvPr>
        </p:nvSpPr>
        <p:spPr>
          <a:xfrm>
            <a:off x="538550" y="348974"/>
            <a:ext cx="8520600" cy="66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План защиты</a:t>
            </a:r>
            <a:endParaRPr/>
          </a:p>
        </p:txBody>
      </p:sp>
      <p:sp>
        <p:nvSpPr>
          <p:cNvPr id="252" name="Google Shape;252;p60"/>
          <p:cNvSpPr/>
          <p:nvPr/>
        </p:nvSpPr>
        <p:spPr>
          <a:xfrm>
            <a:off x="1138125" y="1491302"/>
            <a:ext cx="3384900" cy="376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162000" spcFirstLastPara="1" rIns="162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Цель и задачи проекта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3" name="Google Shape;253;p60"/>
          <p:cNvSpPr/>
          <p:nvPr/>
        </p:nvSpPr>
        <p:spPr>
          <a:xfrm>
            <a:off x="1138125" y="2071492"/>
            <a:ext cx="3384900" cy="376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162000" spcFirstLastPara="1" rIns="162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Какие технологии использовались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4" name="Google Shape;254;p60"/>
          <p:cNvSpPr/>
          <p:nvPr/>
        </p:nvSpPr>
        <p:spPr>
          <a:xfrm>
            <a:off x="1138125" y="2651676"/>
            <a:ext cx="3384900" cy="376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162000" spcFirstLastPara="1" rIns="162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Что получилось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5" name="Google Shape;255;p60"/>
          <p:cNvSpPr/>
          <p:nvPr/>
        </p:nvSpPr>
        <p:spPr>
          <a:xfrm>
            <a:off x="1138125" y="3246225"/>
            <a:ext cx="3384900" cy="376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162000" spcFirstLastPara="1" rIns="162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Выводы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56" name="Google Shape;256;p60"/>
          <p:cNvCxnSpPr>
            <a:stCxn id="252" idx="1"/>
            <a:endCxn id="253" idx="1"/>
          </p:cNvCxnSpPr>
          <p:nvPr/>
        </p:nvCxnSpPr>
        <p:spPr>
          <a:xfrm>
            <a:off x="1138125" y="1679402"/>
            <a:ext cx="600" cy="580200"/>
          </a:xfrm>
          <a:prstGeom prst="bentConnector3">
            <a:avLst>
              <a:gd fmla="val -39687500" name="adj1"/>
            </a:avLst>
          </a:prstGeom>
          <a:noFill/>
          <a:ln cap="flat" cmpd="sng" w="9525">
            <a:solidFill>
              <a:srgbClr val="9857F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57" name="Google Shape;257;p60"/>
          <p:cNvCxnSpPr>
            <a:stCxn id="253" idx="1"/>
            <a:endCxn id="254" idx="1"/>
          </p:cNvCxnSpPr>
          <p:nvPr/>
        </p:nvCxnSpPr>
        <p:spPr>
          <a:xfrm>
            <a:off x="1138125" y="2259592"/>
            <a:ext cx="600" cy="580200"/>
          </a:xfrm>
          <a:prstGeom prst="bentConnector3">
            <a:avLst>
              <a:gd fmla="val -39687500" name="adj1"/>
            </a:avLst>
          </a:prstGeom>
          <a:noFill/>
          <a:ln cap="flat" cmpd="sng" w="9525">
            <a:solidFill>
              <a:srgbClr val="9857F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58" name="Google Shape;258;p60"/>
          <p:cNvCxnSpPr>
            <a:stCxn id="254" idx="1"/>
            <a:endCxn id="255" idx="1"/>
          </p:cNvCxnSpPr>
          <p:nvPr/>
        </p:nvCxnSpPr>
        <p:spPr>
          <a:xfrm>
            <a:off x="1138125" y="2839776"/>
            <a:ext cx="600" cy="594600"/>
          </a:xfrm>
          <a:prstGeom prst="bentConnector3">
            <a:avLst>
              <a:gd fmla="val -39687500" name="adj1"/>
            </a:avLst>
          </a:prstGeom>
          <a:noFill/>
          <a:ln cap="flat" cmpd="sng" w="9525">
            <a:solidFill>
              <a:srgbClr val="9857F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59" name="Google Shape;259;p60"/>
          <p:cNvCxnSpPr>
            <a:stCxn id="255" idx="1"/>
            <a:endCxn id="260" idx="1"/>
          </p:cNvCxnSpPr>
          <p:nvPr/>
        </p:nvCxnSpPr>
        <p:spPr>
          <a:xfrm>
            <a:off x="1138125" y="3434325"/>
            <a:ext cx="600" cy="526800"/>
          </a:xfrm>
          <a:prstGeom prst="bentConnector3">
            <a:avLst>
              <a:gd fmla="val -39687500" name="adj1"/>
            </a:avLst>
          </a:prstGeom>
          <a:noFill/>
          <a:ln cap="flat" cmpd="sng" w="9525">
            <a:solidFill>
              <a:srgbClr val="9857F3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60" name="Google Shape;260;p60"/>
          <p:cNvSpPr/>
          <p:nvPr/>
        </p:nvSpPr>
        <p:spPr>
          <a:xfrm>
            <a:off x="1138137" y="3772875"/>
            <a:ext cx="3384900" cy="376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162000" spcFirstLastPara="1" rIns="162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Вопросы и рекомендации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61"/>
          <p:cNvSpPr txBox="1"/>
          <p:nvPr/>
        </p:nvSpPr>
        <p:spPr>
          <a:xfrm>
            <a:off x="560500" y="324878"/>
            <a:ext cx="8520600" cy="6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Цел</a:t>
            </a:r>
            <a:r>
              <a:rPr b="1" lang="ru" sz="2400">
                <a:latin typeface="Roboto"/>
                <a:ea typeface="Roboto"/>
                <a:cs typeface="Roboto"/>
                <a:sym typeface="Roboto"/>
              </a:rPr>
              <a:t>ь и задачи</a:t>
            </a:r>
            <a:r>
              <a:rPr b="1" lang="ru" sz="2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проекта</a:t>
            </a:r>
            <a:endParaRPr b="1" sz="24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266" name="Google Shape;266;p61"/>
          <p:cNvGraphicFramePr/>
          <p:nvPr/>
        </p:nvGraphicFramePr>
        <p:xfrm>
          <a:off x="176400" y="2462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{0B489C6E-23CD-4EE1-AA48-215A20A13C27}</a:tableStyleId>
              </a:tblPr>
              <a:tblGrid>
                <a:gridCol w="576075"/>
                <a:gridCol w="7944525"/>
              </a:tblGrid>
              <a:tr h="522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10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b="1" sz="110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000">
                          <a:solidFill>
                            <a:schemeClr val="dk1"/>
                          </a:solidFill>
                        </a:rPr>
                        <a:t>Проектирование Clean Architecture:</a:t>
                      </a:r>
                      <a:r>
                        <a:rPr lang="ru" sz="1000">
                          <a:solidFill>
                            <a:schemeClr val="dk1"/>
                          </a:solidFill>
                        </a:rPr>
                        <a:t> Описать доменную логику, интерфейсы и графовый NLP-пайплайн Агента на базе DIP-инверсии зависимостей. </a:t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2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10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b="1" sz="110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000">
                          <a:solidFill>
                            <a:schemeClr val="dk1"/>
                          </a:solidFill>
                        </a:rPr>
                        <a:t>Оптимизация и C++ инференс нейросетей:</a:t>
                      </a:r>
                      <a:r>
                        <a:rPr lang="ru" sz="1000">
                          <a:solidFill>
                            <a:schemeClr val="dk1"/>
                          </a:solidFill>
                        </a:rPr>
                        <a:t> Экспортировать и развернуть каскад из ML-моделей в репозитории </a:t>
                      </a:r>
                      <a:r>
                        <a:rPr b="1" lang="ru" sz="1000">
                          <a:solidFill>
                            <a:schemeClr val="dk1"/>
                          </a:solidFill>
                        </a:rPr>
                        <a:t>NVIDIA Triton Server</a:t>
                      </a:r>
                      <a:r>
                        <a:rPr lang="ru" sz="1000">
                          <a:solidFill>
                            <a:schemeClr val="dk1"/>
                          </a:solidFill>
                        </a:rPr>
                        <a:t> с поддержкой вычислений на </a:t>
                      </a:r>
                      <a:r>
                        <a:rPr b="1" lang="ru" sz="1000">
                          <a:solidFill>
                            <a:schemeClr val="dk1"/>
                          </a:solidFill>
                        </a:rPr>
                        <a:t>GPU (CUDA)</a:t>
                      </a:r>
                      <a:r>
                        <a:rPr lang="ru" sz="1000">
                          <a:solidFill>
                            <a:schemeClr val="dk1"/>
                          </a:solidFill>
                        </a:rPr>
                        <a:t>. </a:t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2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10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b="1" sz="110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ru" sz="1000">
                          <a:solidFill>
                            <a:schemeClr val="dk1"/>
                          </a:solidFill>
                        </a:rPr>
                        <a:t>Аппаратное векторное индексирование:</a:t>
                      </a:r>
                      <a:r>
                        <a:rPr lang="ru" sz="1000">
                          <a:solidFill>
                            <a:schemeClr val="dk1"/>
                          </a:solidFill>
                        </a:rPr>
                        <a:t> Создать многовекторную коллекцию в </a:t>
                      </a:r>
                      <a:r>
                        <a:rPr b="1" lang="ru" sz="1000">
                          <a:solidFill>
                            <a:schemeClr val="dk1"/>
                          </a:solidFill>
                        </a:rPr>
                        <a:t>Qdrant DB</a:t>
                      </a:r>
                      <a:r>
                        <a:rPr lang="ru" sz="1000">
                          <a:solidFill>
                            <a:schemeClr val="dk1"/>
                          </a:solidFill>
                        </a:rPr>
                        <a:t> и реализовать предфильтрацию метаданных (Metadata Pre-Filtering) с помощью морфологического контура </a:t>
                      </a:r>
                      <a:r>
                        <a:rPr b="1" lang="ru" sz="1000">
                          <a:solidFill>
                            <a:schemeClr val="dk1"/>
                          </a:solidFill>
                        </a:rPr>
                        <a:t>spaCy</a:t>
                      </a:r>
                      <a:r>
                        <a:rPr lang="ru" sz="1000">
                          <a:solidFill>
                            <a:schemeClr val="dk1"/>
                          </a:solidFill>
                        </a:rPr>
                        <a:t>. </a:t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3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10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b="1" sz="110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000">
                          <a:solidFill>
                            <a:schemeClr val="dk1"/>
                          </a:solidFill>
                        </a:rPr>
                        <a:t>Разработка гибридного RecSys-движка:</a:t>
                      </a:r>
                      <a:r>
                        <a:rPr lang="ru" sz="1000">
                          <a:solidFill>
                            <a:schemeClr val="dk1"/>
                          </a:solidFill>
                        </a:rPr>
                        <a:t> Интегрировать многофакторную формулу ранжирования (Linear Score Fusion), учитывающую ценовые сегменты, ALS-историю, коммерческий бустинг (Commercial Boosting) и политику «холодного старта». </a:t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81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10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5.</a:t>
                      </a:r>
                      <a:endParaRPr/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000">
                          <a:solidFill>
                            <a:schemeClr val="dk1"/>
                          </a:solidFill>
                        </a:rPr>
                        <a:t>Внедрение сквозного мониторинга:</a:t>
                      </a:r>
                      <a:r>
                        <a:rPr lang="ru" sz="1000">
                          <a:solidFill>
                            <a:schemeClr val="dk1"/>
                          </a:solidFill>
                        </a:rPr>
                        <a:t> Развернуть контур скрейпинга аппаратных С++ метрик Тритона через </a:t>
                      </a:r>
                      <a:r>
                        <a:rPr b="1" lang="ru" sz="1000">
                          <a:solidFill>
                            <a:schemeClr val="dk1"/>
                          </a:solidFill>
                        </a:rPr>
                        <a:t>Prometheus</a:t>
                      </a:r>
                      <a:r>
                        <a:rPr lang="ru" sz="1000">
                          <a:solidFill>
                            <a:schemeClr val="dk1"/>
                          </a:solidFill>
                        </a:rPr>
                        <a:t> и настроить аналитические панели в </a:t>
                      </a:r>
                      <a:r>
                        <a:rPr b="1" lang="ru" sz="1000">
                          <a:solidFill>
                            <a:schemeClr val="dk1"/>
                          </a:solidFill>
                        </a:rPr>
                        <a:t>Grafana</a:t>
                      </a:r>
                      <a:r>
                        <a:rPr lang="ru" sz="1000">
                          <a:solidFill>
                            <a:schemeClr val="dk1"/>
                          </a:solidFill>
                        </a:rPr>
                        <a:t>. 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67" name="Google Shape;267;p61"/>
          <p:cNvSpPr/>
          <p:nvPr/>
        </p:nvSpPr>
        <p:spPr>
          <a:xfrm>
            <a:off x="1628250" y="810000"/>
            <a:ext cx="5887500" cy="1238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162000" spcFirstLastPara="1" rIns="162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Цель проекта: </a:t>
            </a:r>
            <a:r>
              <a:rPr lang="ru" sz="1100">
                <a:solidFill>
                  <a:schemeClr val="dk1"/>
                </a:solidFill>
              </a:rPr>
              <a:t>Разработать и развернуть высокопроизводительную </a:t>
            </a:r>
            <a:r>
              <a:rPr b="1" lang="ru" sz="1200">
                <a:solidFill>
                  <a:schemeClr val="dk1"/>
                </a:solidFill>
              </a:rPr>
              <a:t>двухуровневую гибридную рекомендательную систему семантического поиска</a:t>
            </a:r>
            <a:r>
              <a:rPr lang="ru" sz="1100">
                <a:solidFill>
                  <a:schemeClr val="dk1"/>
                </a:solidFill>
              </a:rPr>
              <a:t> на базе промышленного стека </a:t>
            </a:r>
            <a:r>
              <a:rPr b="1" lang="ru" sz="1200">
                <a:solidFill>
                  <a:schemeClr val="dk1"/>
                </a:solidFill>
              </a:rPr>
              <a:t>NVIDIA Triton Inference Server</a:t>
            </a:r>
            <a:r>
              <a:rPr lang="ru" sz="1100">
                <a:solidFill>
                  <a:schemeClr val="dk1"/>
                </a:solidFill>
              </a:rPr>
              <a:t>, векторной СУБД </a:t>
            </a:r>
            <a:r>
              <a:rPr b="1" lang="ru" sz="1200">
                <a:solidFill>
                  <a:schemeClr val="dk1"/>
                </a:solidFill>
              </a:rPr>
              <a:t>Qdrant</a:t>
            </a:r>
            <a:r>
              <a:rPr lang="ru" sz="1100">
                <a:solidFill>
                  <a:schemeClr val="dk1"/>
                </a:solidFill>
              </a:rPr>
              <a:t> и контура наблюдаемости </a:t>
            </a:r>
            <a:r>
              <a:rPr b="1" lang="ru" sz="1200">
                <a:solidFill>
                  <a:schemeClr val="dk1"/>
                </a:solidFill>
              </a:rPr>
              <a:t>Langfuse LLMOps</a:t>
            </a:r>
            <a:r>
              <a:rPr lang="ru" sz="1100">
                <a:solidFill>
                  <a:schemeClr val="dk1"/>
                </a:solidFill>
              </a:rPr>
              <a:t>. </a:t>
            </a:r>
            <a:endParaRPr sz="15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268" name="Google Shape;268;p61"/>
          <p:cNvSpPr txBox="1"/>
          <p:nvPr/>
        </p:nvSpPr>
        <p:spPr>
          <a:xfrm>
            <a:off x="255700" y="2048300"/>
            <a:ext cx="5395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Задачи проекта : 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62"/>
          <p:cNvSpPr txBox="1"/>
          <p:nvPr>
            <p:ph type="title"/>
          </p:nvPr>
        </p:nvSpPr>
        <p:spPr>
          <a:xfrm>
            <a:off x="500550" y="330724"/>
            <a:ext cx="8520600" cy="4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/>
              <a:t>Технологический стек и подходы к разработке 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</p:txBody>
      </p:sp>
      <p:graphicFrame>
        <p:nvGraphicFramePr>
          <p:cNvPr id="274" name="Google Shape;274;p62"/>
          <p:cNvGraphicFramePr/>
          <p:nvPr/>
        </p:nvGraphicFramePr>
        <p:xfrm>
          <a:off x="80800" y="886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{0B489C6E-23CD-4EE1-AA48-215A20A13C27}</a:tableStyleId>
              </a:tblPr>
              <a:tblGrid>
                <a:gridCol w="489425"/>
                <a:gridCol w="8292475"/>
              </a:tblGrid>
              <a:tr h="846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20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b="1" sz="120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1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NVIDIA Triton Inference Server &amp; TensorRT  </a:t>
                      </a:r>
                      <a:endParaRPr b="1" sz="11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ru" sz="1200">
                          <a:solidFill>
                            <a:schemeClr val="dk1"/>
                          </a:solidFill>
                        </a:rPr>
                        <a:t>Зачем:</a:t>
                      </a:r>
                      <a:r>
                        <a:rPr lang="ru" sz="1100">
                          <a:solidFill>
                            <a:schemeClr val="dk1"/>
                          </a:solidFill>
                        </a:rPr>
                        <a:t> Выделенный C++ сервер для изолированного исполнения тяжелых нейросетевых моделей (MiniLM, BGE, PaliGemma) на GPU (CUDA) отдельно от Python-кода приложения. 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ru" sz="1200">
                          <a:solidFill>
                            <a:schemeClr val="dk1"/>
                          </a:solidFill>
                        </a:rPr>
                        <a:t>Впечатление:</a:t>
                      </a:r>
                      <a:r>
                        <a:rPr lang="ru" sz="1100">
                          <a:solidFill>
                            <a:schemeClr val="dk1"/>
                          </a:solidFill>
                        </a:rPr>
                        <a:t> Мощное Enterprise-решение. Динамический батчинг и параллельное выполнение моделей на GPU обеспечили колоссальную пропускную способность в </a:t>
                      </a:r>
                      <a:r>
                        <a:rPr b="1" lang="ru" sz="1200">
                          <a:solidFill>
                            <a:schemeClr val="dk1"/>
                          </a:solidFill>
                        </a:rPr>
                        <a:t>413.5 RPS</a:t>
                      </a:r>
                      <a:r>
                        <a:rPr lang="ru" sz="1100">
                          <a:solidFill>
                            <a:schemeClr val="dk1"/>
                          </a:solidFill>
                        </a:rPr>
                        <a:t> при Latency инференса всего в </a:t>
                      </a:r>
                      <a:r>
                        <a:rPr b="1" lang="ru" sz="1200">
                          <a:solidFill>
                            <a:schemeClr val="dk1"/>
                          </a:solidFill>
                        </a:rPr>
                        <a:t>4.4 мс</a:t>
                      </a:r>
                      <a:r>
                        <a:rPr lang="ru" sz="1100">
                          <a:solidFill>
                            <a:schemeClr val="dk1"/>
                          </a:solidFill>
                        </a:rPr>
                        <a:t>. 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336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20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b="1" sz="120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1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Векторная СУБД Qdrant </a:t>
                      </a:r>
                      <a:endParaRPr b="1" sz="11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ru" sz="1200">
                          <a:solidFill>
                            <a:schemeClr val="dk1"/>
                          </a:solidFill>
                        </a:rPr>
                        <a:t>Зачем:</a:t>
                      </a:r>
                      <a:r>
                        <a:rPr lang="ru" sz="1100">
                          <a:solidFill>
                            <a:schemeClr val="dk1"/>
                          </a:solidFill>
                        </a:rPr>
                        <a:t> Хранение 384-мерных семантических векторов каталога товаров и аппаратный gRPC-поиск кандидатов по косинусному сходству. 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ru" sz="1200">
                          <a:solidFill>
                            <a:schemeClr val="dk1"/>
                          </a:solidFill>
                        </a:rPr>
                        <a:t>Впечатление:</a:t>
                      </a:r>
                      <a:r>
                        <a:rPr lang="ru" sz="1100">
                          <a:solidFill>
                            <a:schemeClr val="dk1"/>
                          </a:solidFill>
                        </a:rPr>
                        <a:t> Исключительно быстрая С++ база данных. Механизм </a:t>
                      </a:r>
                      <a:r>
                        <a:rPr i="1" lang="ru" sz="1200">
                          <a:solidFill>
                            <a:schemeClr val="dk1"/>
                          </a:solidFill>
                        </a:rPr>
                        <a:t>Metadata Pre-Filtering</a:t>
                      </a:r>
                      <a:r>
                        <a:rPr lang="ru" sz="1100">
                          <a:solidFill>
                            <a:schemeClr val="dk1"/>
                          </a:solidFill>
                        </a:rPr>
                        <a:t> позволил отсекать нерелевантные категории товаров на уровне поискового движка СУБД еще до векторного сравнения 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46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20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r>
                        <a:rPr b="1" lang="ru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  <a:endParaRPr b="1"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1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Платформа Langfuse LLMOps &amp; Фреймворк RAGAS </a:t>
                      </a:r>
                      <a:endParaRPr b="1" sz="11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ru" sz="1200">
                          <a:solidFill>
                            <a:schemeClr val="dk1"/>
                          </a:solidFill>
                        </a:rPr>
                        <a:t>Зачем:</a:t>
                      </a:r>
                      <a:r>
                        <a:rPr lang="ru" sz="1100">
                          <a:solidFill>
                            <a:schemeClr val="dk1"/>
                          </a:solidFill>
                        </a:rPr>
                        <a:t> Сквозной трейсинг графа ИИ-Агента и автоматическая оценка качества поиска по методологии </a:t>
                      </a:r>
                      <a:r>
                        <a:rPr i="1" lang="ru" sz="1200">
                          <a:solidFill>
                            <a:schemeClr val="dk1"/>
                          </a:solidFill>
                        </a:rPr>
                        <a:t>LLM-as-a-Judge</a:t>
                      </a:r>
                      <a:r>
                        <a:rPr lang="ru" sz="1100">
                          <a:solidFill>
                            <a:schemeClr val="dk1"/>
                          </a:solidFill>
                        </a:rPr>
                        <a:t>. 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ru" sz="1200">
                          <a:solidFill>
                            <a:schemeClr val="dk1"/>
                          </a:solidFill>
                        </a:rPr>
                        <a:t>Впечатление:</a:t>
                      </a:r>
                      <a:r>
                        <a:rPr lang="ru" sz="1100">
                          <a:solidFill>
                            <a:schemeClr val="dk1"/>
                          </a:solidFill>
                        </a:rPr>
                        <a:t> Лучший инструмент для контроля качества ИИ. Интеграция позволила в реальном времени отслеживать метрики RAGAS (</a:t>
                      </a:r>
                      <a:r>
                        <a:rPr i="1" lang="ru" sz="1200">
                          <a:solidFill>
                            <a:schemeClr val="dk1"/>
                          </a:solidFill>
                        </a:rPr>
                        <a:t>Faithfulness, Answer Relevancy</a:t>
                      </a:r>
                      <a:r>
                        <a:rPr lang="ru" sz="1100">
                          <a:solidFill>
                            <a:schemeClr val="dk1"/>
                          </a:solidFill>
                        </a:rPr>
                        <a:t>), выявлять галлюцинации моделей и визуализировать логику Агента на удобных дашбордах. 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967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20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b="1" sz="120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1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Prometheus &amp; Grafana </a:t>
                      </a:r>
                      <a:endParaRPr b="1" sz="11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ru" sz="1200">
                          <a:solidFill>
                            <a:schemeClr val="dk1"/>
                          </a:solidFill>
                        </a:rPr>
                        <a:t>Зачем:</a:t>
                      </a:r>
                      <a:r>
                        <a:rPr lang="ru" sz="1100">
                          <a:solidFill>
                            <a:schemeClr val="dk1"/>
                          </a:solidFill>
                        </a:rPr>
                        <a:t> Сбор прикладных и аппаратных С++ метрик с Тритона на порту 8002 и их визуализация. 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ru" sz="1200">
                          <a:solidFill>
                            <a:schemeClr val="dk1"/>
                          </a:solidFill>
                        </a:rPr>
                        <a:t>Впечатление:</a:t>
                      </a:r>
                      <a:r>
                        <a:rPr lang="ru" sz="1100">
                          <a:solidFill>
                            <a:schemeClr val="dk1"/>
                          </a:solidFill>
                        </a:rPr>
                        <a:t> Стандарт для Production. Позволяет наглядно увидеть стабильную полку утилизации GPU и Latency под стресс-нагрузкой, что необходимо для мониторинга стабильности ИИ-систем. 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478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63"/>
          <p:cNvSpPr txBox="1"/>
          <p:nvPr>
            <p:ph type="title"/>
          </p:nvPr>
        </p:nvSpPr>
        <p:spPr>
          <a:xfrm>
            <a:off x="500550" y="330724"/>
            <a:ext cx="8520600" cy="44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2400"/>
              <a:t>Архитектура проекта</a:t>
            </a:r>
            <a:endParaRPr i="1" sz="2400"/>
          </a:p>
        </p:txBody>
      </p:sp>
      <p:pic>
        <p:nvPicPr>
          <p:cNvPr id="280" name="Google Shape;280;p63" title="architect20261007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2100" y="899175"/>
            <a:ext cx="3842825" cy="4065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64"/>
          <p:cNvSpPr txBox="1"/>
          <p:nvPr>
            <p:ph type="title"/>
          </p:nvPr>
        </p:nvSpPr>
        <p:spPr>
          <a:xfrm>
            <a:off x="500550" y="330724"/>
            <a:ext cx="8520600" cy="44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2400"/>
              <a:t>RecSys</a:t>
            </a:r>
            <a:endParaRPr i="1" sz="2400"/>
          </a:p>
        </p:txBody>
      </p:sp>
      <p:pic>
        <p:nvPicPr>
          <p:cNvPr id="286" name="Google Shape;286;p64" title="docker запрос товара 2026100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25324"/>
            <a:ext cx="8839201" cy="3915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65"/>
          <p:cNvSpPr txBox="1"/>
          <p:nvPr>
            <p:ph type="title"/>
          </p:nvPr>
        </p:nvSpPr>
        <p:spPr>
          <a:xfrm>
            <a:off x="500550" y="330724"/>
            <a:ext cx="8520600" cy="44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2400"/>
              <a:t>Gradio client browser</a:t>
            </a:r>
            <a:endParaRPr i="1" sz="2400"/>
          </a:p>
        </p:txBody>
      </p:sp>
      <p:pic>
        <p:nvPicPr>
          <p:cNvPr id="292" name="Google Shape;292;p65" title="Gradio panel 2026100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25324"/>
            <a:ext cx="8839204" cy="38369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66"/>
          <p:cNvSpPr txBox="1"/>
          <p:nvPr>
            <p:ph type="title"/>
          </p:nvPr>
        </p:nvSpPr>
        <p:spPr>
          <a:xfrm>
            <a:off x="500550" y="330724"/>
            <a:ext cx="8520600" cy="44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2400"/>
              <a:t>Dashboard Grafana</a:t>
            </a:r>
            <a:endParaRPr i="1" sz="2400"/>
          </a:p>
        </p:txBody>
      </p:sp>
      <p:pic>
        <p:nvPicPr>
          <p:cNvPr id="298" name="Google Shape;298;p66" title="TritonDashboard_PerfAnalyzerCheck2026100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25324"/>
            <a:ext cx="6399981" cy="4065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67"/>
          <p:cNvSpPr txBox="1"/>
          <p:nvPr>
            <p:ph type="title"/>
          </p:nvPr>
        </p:nvSpPr>
        <p:spPr>
          <a:xfrm>
            <a:off x="500550" y="330724"/>
            <a:ext cx="8520600" cy="44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2400"/>
              <a:t>Langfuse Ragas Scores</a:t>
            </a:r>
            <a:endParaRPr i="1" sz="2400"/>
          </a:p>
        </p:txBody>
      </p:sp>
      <p:pic>
        <p:nvPicPr>
          <p:cNvPr id="304" name="Google Shape;304;p67" title="ragas scores 2026100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25324"/>
            <a:ext cx="8839200" cy="31362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68"/>
          <p:cNvSpPr txBox="1"/>
          <p:nvPr>
            <p:ph type="title"/>
          </p:nvPr>
        </p:nvSpPr>
        <p:spPr>
          <a:xfrm>
            <a:off x="500550" y="330724"/>
            <a:ext cx="8520600" cy="6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/>
              <a:t>Выводы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graphicFrame>
        <p:nvGraphicFramePr>
          <p:cNvPr id="310" name="Google Shape;310;p68"/>
          <p:cNvGraphicFramePr/>
          <p:nvPr/>
        </p:nvGraphicFramePr>
        <p:xfrm>
          <a:off x="952500" y="81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{0B489C6E-23CD-4EE1-AA48-215A20A13C27}</a:tableStyleId>
              </a:tblPr>
              <a:tblGrid>
                <a:gridCol w="489425"/>
                <a:gridCol w="6749575"/>
              </a:tblGrid>
              <a:tr h="1075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60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b="1" sz="160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200">
                          <a:solidFill>
                            <a:schemeClr val="dk1"/>
                          </a:solidFill>
                        </a:rPr>
                        <a:t>Достижение цели и выполнение задач: 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200">
                          <a:solidFill>
                            <a:schemeClr val="dk1"/>
                          </a:solidFill>
                        </a:rPr>
                        <a:t>Цель полностью достигнута.</a:t>
                      </a:r>
                      <a:r>
                        <a:rPr lang="ru" sz="1100">
                          <a:solidFill>
                            <a:schemeClr val="dk1"/>
                          </a:solidFill>
                        </a:rPr>
                        <a:t> Создана и развернута высокопроизводительная двухуровневая система семантического поиска. Инженерные задачи (от проектирования </a:t>
                      </a:r>
                      <a:r>
                        <a:rPr i="1" lang="ru" sz="1200">
                          <a:solidFill>
                            <a:schemeClr val="dk1"/>
                          </a:solidFill>
                        </a:rPr>
                        <a:t>Clean Architecture</a:t>
                      </a:r>
                      <a:r>
                        <a:rPr lang="ru" sz="1100">
                          <a:solidFill>
                            <a:schemeClr val="dk1"/>
                          </a:solidFill>
                        </a:rPr>
                        <a:t> до интеграции </a:t>
                      </a:r>
                      <a:r>
                        <a:rPr i="1" lang="ru" sz="1200">
                          <a:solidFill>
                            <a:schemeClr val="dk1"/>
                          </a:solidFill>
                        </a:rPr>
                        <a:t>Langfuse/Ragas</a:t>
                      </a:r>
                      <a:r>
                        <a:rPr lang="ru" sz="1100">
                          <a:solidFill>
                            <a:schemeClr val="dk1"/>
                          </a:solidFill>
                        </a:rPr>
                        <a:t>) выполнены в полном объеме. Контур стабилен и верифицирован. </a:t>
                      </a:r>
                      <a:endParaRPr sz="160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48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60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b="1" sz="160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200">
                          <a:solidFill>
                            <a:schemeClr val="dk1"/>
                          </a:solidFill>
                        </a:rPr>
                        <a:t>Что далось легко, а где возникли трудности: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  <a:p>
                      <a:pPr indent="-304800" lvl="0" marL="45720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Char char="●"/>
                      </a:pPr>
                      <a:r>
                        <a:rPr i="1" lang="ru" sz="1200">
                          <a:solidFill>
                            <a:schemeClr val="dk1"/>
                          </a:solidFill>
                        </a:rPr>
                        <a:t>Легко:</a:t>
                      </a:r>
                      <a:r>
                        <a:rPr lang="ru" sz="1200">
                          <a:solidFill>
                            <a:schemeClr val="dk1"/>
                          </a:solidFill>
                        </a:rPr>
                        <a:t> Проектирование модулей бизнес-логики, кастомного рекоммендера (</a:t>
                      </a:r>
                      <a:r>
                        <a:rPr i="1" lang="ru" sz="1200">
                          <a:solidFill>
                            <a:schemeClr val="dk1"/>
                          </a:solidFill>
                        </a:rPr>
                        <a:t>RecSys движка</a:t>
                      </a:r>
                      <a:r>
                        <a:rPr lang="ru" sz="1200">
                          <a:solidFill>
                            <a:schemeClr val="dk1"/>
                          </a:solidFill>
                        </a:rPr>
                        <a:t>) и декларативного графового пайплайна на Python благодаря строгому следованию принципам </a:t>
                      </a:r>
                      <a:r>
                        <a:rPr i="1" lang="ru" sz="1200">
                          <a:solidFill>
                            <a:schemeClr val="dk1"/>
                          </a:solidFill>
                        </a:rPr>
                        <a:t>Clean Architecture</a:t>
                      </a:r>
                      <a:r>
                        <a:rPr lang="ru" sz="1200">
                          <a:solidFill>
                            <a:schemeClr val="dk1"/>
                          </a:solidFill>
                        </a:rPr>
                        <a:t>.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-3048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Char char="●"/>
                      </a:pPr>
                      <a:r>
                        <a:rPr i="1" lang="ru" sz="1200">
                          <a:solidFill>
                            <a:schemeClr val="dk1"/>
                          </a:solidFill>
                        </a:rPr>
                        <a:t>Трудно:</a:t>
                      </a:r>
                      <a:r>
                        <a:rPr lang="ru" sz="1200">
                          <a:solidFill>
                            <a:schemeClr val="dk1"/>
                          </a:solidFill>
                        </a:rPr>
                        <a:t> Инфраструктурная стыковка компонентов в Docker. Наибольших усилий потребовала правильная отладка проброса аппаратных CUDA-драйверов NVIDIA внутрь изолированных контейнеров Gradio и Тритона, а также устранение скрытых нестыковок в сетевых gRPC/HTTP сокетах и версиях внешних библиотек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97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60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b="1" sz="160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200">
                          <a:solidFill>
                            <a:schemeClr val="dk1"/>
                          </a:solidFill>
                        </a:rPr>
                        <a:t>Временные затраты: 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</a:rPr>
                        <a:t>Проект занял </a:t>
                      </a:r>
                      <a:r>
                        <a:rPr b="1" lang="ru" sz="1200">
                          <a:solidFill>
                            <a:schemeClr val="dk1"/>
                          </a:solidFill>
                        </a:rPr>
                        <a:t>около 3–4 недель</a:t>
                      </a:r>
                      <a:r>
                        <a:rPr lang="ru" sz="1200">
                          <a:solidFill>
                            <a:schemeClr val="dk1"/>
                          </a:solidFill>
                        </a:rPr>
                        <a:t> интенсивной MLOps-инженерии (включая этапы конвертации моделей в ONNX/TensorRT, наполнения векторной СУБД, верстки UI и настройки сквозного мониторинга Grafana/Prometheus).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79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5" name="Google Shape;315;p69"/>
          <p:cNvGraphicFramePr/>
          <p:nvPr/>
        </p:nvGraphicFramePr>
        <p:xfrm>
          <a:off x="952500" y="81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{0B489C6E-23CD-4EE1-AA48-215A20A13C27}</a:tableStyleId>
              </a:tblPr>
              <a:tblGrid>
                <a:gridCol w="489425"/>
                <a:gridCol w="6749575"/>
              </a:tblGrid>
              <a:tr h="1075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60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r>
                        <a:rPr b="1" lang="ru" sz="160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  <a:endParaRPr b="1" sz="160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200">
                          <a:solidFill>
                            <a:schemeClr val="dk1"/>
                          </a:solidFill>
                        </a:rPr>
                        <a:t>Полезность проекта (Оценка: 10 / 10):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45720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ru" sz="1200">
                          <a:solidFill>
                            <a:schemeClr val="dk1"/>
                          </a:solidFill>
                        </a:rPr>
                        <a:t>10 — Исключительно полезно.</a:t>
                      </a:r>
                      <a:r>
                        <a:rPr lang="ru" sz="1200">
                          <a:solidFill>
                            <a:schemeClr val="dk1"/>
                          </a:solidFill>
                        </a:rPr>
                        <a:t> Получен уникальный прикладной опыт построения </a:t>
                      </a:r>
                      <a:r>
                        <a:rPr i="1" lang="ru" sz="1200">
                          <a:solidFill>
                            <a:schemeClr val="dk1"/>
                          </a:solidFill>
                        </a:rPr>
                        <a:t>Production-ready RAG-систем</a:t>
                      </a:r>
                      <a:r>
                        <a:rPr lang="ru" sz="1200">
                          <a:solidFill>
                            <a:schemeClr val="dk1"/>
                          </a:solidFill>
                        </a:rPr>
                        <a:t> промышленного уровня. Проект позволил выйти за рамки стандартных Python-скриптов и освоить оркестрацию распределенного ИИ на GPU, работу с С++ серверами инференса и методологию автоматизированного судейства </a:t>
                      </a:r>
                      <a:r>
                        <a:rPr i="1" lang="ru" sz="1200">
                          <a:solidFill>
                            <a:schemeClr val="dk1"/>
                          </a:solidFill>
                        </a:rPr>
                        <a:t>LLM-as-a-Judge</a:t>
                      </a:r>
                      <a:r>
                        <a:rPr lang="ru" sz="1200">
                          <a:solidFill>
                            <a:schemeClr val="dk1"/>
                          </a:solidFill>
                        </a:rPr>
                        <a:t>.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48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60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</a:t>
                      </a:r>
                      <a:r>
                        <a:rPr b="1" lang="ru" sz="160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  <a:endParaRPr b="1" sz="160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200">
                          <a:solidFill>
                            <a:schemeClr val="dk1"/>
                          </a:solidFill>
                        </a:rPr>
                        <a:t>План дальнейшего развития: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45720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</a:rPr>
                        <a:t>Планируется масштабировать проект: перенести Docker Compose стек в оркестратор </a:t>
                      </a:r>
                      <a:r>
                        <a:rPr b="1" lang="ru" sz="1200">
                          <a:solidFill>
                            <a:schemeClr val="dk1"/>
                          </a:solidFill>
                        </a:rPr>
                        <a:t>Kubernetes (K8s)</a:t>
                      </a:r>
                      <a:r>
                        <a:rPr lang="ru" sz="1200">
                          <a:solidFill>
                            <a:schemeClr val="dk1"/>
                          </a:solidFill>
                        </a:rPr>
                        <a:t> с использованием </a:t>
                      </a:r>
                      <a:r>
                        <a:rPr i="1" lang="ru" sz="1200">
                          <a:solidFill>
                            <a:schemeClr val="dk1"/>
                          </a:solidFill>
                        </a:rPr>
                        <a:t>NVIDIA GPU Operator</a:t>
                      </a:r>
                      <a:r>
                        <a:rPr lang="ru" sz="1200">
                          <a:solidFill>
                            <a:schemeClr val="dk1"/>
                          </a:solidFill>
                        </a:rPr>
                        <a:t> для обеспечения автоскалирования под нагрузкой. Также в планах заменить тестовые текстовые датасеты на полноценный мультимодальный поиск (интеграция VLM-моделей </a:t>
                      </a:r>
                      <a:r>
                        <a:rPr lang="ru" sz="1050">
                          <a:solidFill>
                            <a:srgbClr val="18803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PaliGemma</a:t>
                      </a:r>
                      <a:r>
                        <a:rPr lang="ru" sz="1200">
                          <a:solidFill>
                            <a:schemeClr val="dk1"/>
                          </a:solidFill>
                        </a:rPr>
                        <a:t> для сквозного семантического анализа изображений одежды по пикселям).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79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0" name="Google Shape;320;p70"/>
          <p:cNvPicPr preferRelativeResize="0"/>
          <p:nvPr/>
        </p:nvPicPr>
        <p:blipFill rotWithShape="1">
          <a:blip r:embed="rId3">
            <a:alphaModFix/>
          </a:blip>
          <a:srcRect b="29923" l="10873" r="0" t="0"/>
          <a:stretch/>
        </p:blipFill>
        <p:spPr>
          <a:xfrm>
            <a:off x="-75950" y="0"/>
            <a:ext cx="940875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70"/>
          <p:cNvSpPr txBox="1"/>
          <p:nvPr/>
        </p:nvSpPr>
        <p:spPr>
          <a:xfrm>
            <a:off x="387050" y="1844625"/>
            <a:ext cx="7584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Вопросы и рекомендации</a:t>
            </a:r>
            <a:endParaRPr b="1" sz="45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2" name="Google Shape;322;p70"/>
          <p:cNvSpPr txBox="1"/>
          <p:nvPr/>
        </p:nvSpPr>
        <p:spPr>
          <a:xfrm>
            <a:off x="1214696" y="3061975"/>
            <a:ext cx="1927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есть вопросы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3" name="Google Shape;323;p70"/>
          <p:cNvSpPr txBox="1"/>
          <p:nvPr/>
        </p:nvSpPr>
        <p:spPr>
          <a:xfrm>
            <a:off x="4934996" y="3061975"/>
            <a:ext cx="2145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вопросов нет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4" name="Google Shape;324;p70"/>
          <p:cNvSpPr txBox="1"/>
          <p:nvPr/>
        </p:nvSpPr>
        <p:spPr>
          <a:xfrm>
            <a:off x="723000" y="2846425"/>
            <a:ext cx="4917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4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5" name="Google Shape;325;p70"/>
          <p:cNvSpPr txBox="1"/>
          <p:nvPr/>
        </p:nvSpPr>
        <p:spPr>
          <a:xfrm>
            <a:off x="4443300" y="2846425"/>
            <a:ext cx="4917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– </a:t>
            </a:r>
            <a:endParaRPr sz="4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0" name="Google Shape;330;p71"/>
          <p:cNvPicPr preferRelativeResize="0"/>
          <p:nvPr/>
        </p:nvPicPr>
        <p:blipFill rotWithShape="1">
          <a:blip r:embed="rId3">
            <a:alphaModFix/>
          </a:blip>
          <a:srcRect b="38717" l="0" r="0" t="5495"/>
          <a:stretch/>
        </p:blipFill>
        <p:spPr>
          <a:xfrm>
            <a:off x="-75950" y="0"/>
            <a:ext cx="921995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71"/>
          <p:cNvSpPr txBox="1"/>
          <p:nvPr>
            <p:ph idx="4294967295" type="title"/>
          </p:nvPr>
        </p:nvSpPr>
        <p:spPr>
          <a:xfrm>
            <a:off x="629000" y="1932525"/>
            <a:ext cx="7295100" cy="19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5000">
                <a:solidFill>
                  <a:schemeClr val="lt1"/>
                </a:solidFill>
              </a:rPr>
              <a:t>Спасибо за внимание</a:t>
            </a:r>
            <a:r>
              <a:rPr lang="ru" sz="5000">
                <a:solidFill>
                  <a:schemeClr val="lt1"/>
                </a:solidFill>
              </a:rPr>
              <a:t>!</a:t>
            </a:r>
            <a:endParaRPr sz="5000">
              <a:solidFill>
                <a:schemeClr val="lt1"/>
              </a:solidFill>
            </a:endParaRPr>
          </a:p>
        </p:txBody>
      </p:sp>
      <p:pic>
        <p:nvPicPr>
          <p:cNvPr id="332" name="Google Shape;332;p7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28113" y="1616723"/>
            <a:ext cx="595986" cy="5959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" name="Google Shape;337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1775" y="163375"/>
            <a:ext cx="5143501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Светлая тема">
  <a:themeElements>
    <a:clrScheme name="Simple Light">
      <a:dk1>
        <a:srgbClr val="000000"/>
      </a:dk1>
      <a:lt1>
        <a:srgbClr val="FFFFFF"/>
      </a:lt1>
      <a:dk2>
        <a:srgbClr val="6402BA"/>
      </a:dk2>
      <a:lt2>
        <a:srgbClr val="EEEEEE"/>
      </a:lt2>
      <a:accent1>
        <a:srgbClr val="7629BA"/>
      </a:accent1>
      <a:accent2>
        <a:srgbClr val="8B8EE3"/>
      </a:accent2>
      <a:accent3>
        <a:srgbClr val="BFC1F0"/>
      </a:accent3>
      <a:accent4>
        <a:srgbClr val="FFAB40"/>
      </a:accent4>
      <a:accent5>
        <a:srgbClr val="0097A7"/>
      </a:accent5>
      <a:accent6>
        <a:srgbClr val="EEFF41"/>
      </a:accent6>
      <a:hlink>
        <a:srgbClr val="8B8EE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Светлая тема">
  <a:themeElements>
    <a:clrScheme name="Simple Light">
      <a:dk1>
        <a:srgbClr val="000000"/>
      </a:dk1>
      <a:lt1>
        <a:srgbClr val="FFFFFF"/>
      </a:lt1>
      <a:dk2>
        <a:srgbClr val="6402BA"/>
      </a:dk2>
      <a:lt2>
        <a:srgbClr val="EEEEEE"/>
      </a:lt2>
      <a:accent1>
        <a:srgbClr val="7629BA"/>
      </a:accent1>
      <a:accent2>
        <a:srgbClr val="8B8EE3"/>
      </a:accent2>
      <a:accent3>
        <a:srgbClr val="BFC1F0"/>
      </a:accent3>
      <a:accent4>
        <a:srgbClr val="FFAB40"/>
      </a:accent4>
      <a:accent5>
        <a:srgbClr val="0097A7"/>
      </a:accent5>
      <a:accent6>
        <a:srgbClr val="EEFF41"/>
      </a:accent6>
      <a:hlink>
        <a:srgbClr val="8B8EE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